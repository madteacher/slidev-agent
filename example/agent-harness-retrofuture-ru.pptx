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f6d34b94914572" /><Relationship Type="http://schemas.openxmlformats.org/officeDocument/2006/relationships/extended-properties" Target="/docProps/app.xml" Id="R54101d9e45fc4576" /><Relationship Type="http://schemas.openxmlformats.org/officeDocument/2006/relationships/officeDocument" Target="/ppt/presentation.xml" Id="Rbf9da130daa545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3dac9cf1f54ecf"/>
  </p:sldMasterIdLst>
  <p:notesMasterIdLst>
    <p:notesMasterId xmlns:r="http://schemas.openxmlformats.org/officeDocument/2006/relationships" r:id="R310968bf2d944f90"/>
  </p:notesMasterIdLst>
  <p:sldIdLst>
    <p:sldId xmlns:r="http://schemas.openxmlformats.org/officeDocument/2006/relationships" id="256" r:id="R4ec37f7aabe444e3"/>
    <p:sldId xmlns:r="http://schemas.openxmlformats.org/officeDocument/2006/relationships" id="257" r:id="Rd69e39946f374d4a"/>
    <p:sldId xmlns:r="http://schemas.openxmlformats.org/officeDocument/2006/relationships" id="258" r:id="R5dc333e939374509"/>
    <p:sldId xmlns:r="http://schemas.openxmlformats.org/officeDocument/2006/relationships" id="259" r:id="R9531093f958245dc"/>
    <p:sldId xmlns:r="http://schemas.openxmlformats.org/officeDocument/2006/relationships" id="260" r:id="Rf82ff5c7623046fd"/>
    <p:sldId xmlns:r="http://schemas.openxmlformats.org/officeDocument/2006/relationships" id="261" r:id="Rb40f3645d7504a49"/>
    <p:sldId xmlns:r="http://schemas.openxmlformats.org/officeDocument/2006/relationships" id="262" r:id="Rb7cd57ab5313479d"/>
    <p:sldId xmlns:r="http://schemas.openxmlformats.org/officeDocument/2006/relationships" id="263" r:id="Rada8ddb2efc44c4a"/>
    <p:sldId xmlns:r="http://schemas.openxmlformats.org/officeDocument/2006/relationships" id="264" r:id="R07acf1d8b8e54865"/>
    <p:sldId xmlns:r="http://schemas.openxmlformats.org/officeDocument/2006/relationships" id="265" r:id="R70cb5145f84b4b76"/>
    <p:sldId xmlns:r="http://schemas.openxmlformats.org/officeDocument/2006/relationships" id="266" r:id="R5061f36dce86432c"/>
    <p:sldId xmlns:r="http://schemas.openxmlformats.org/officeDocument/2006/relationships" id="267" r:id="R0b1fa4fb3a694d1f"/>
    <p:sldId xmlns:r="http://schemas.openxmlformats.org/officeDocument/2006/relationships" id="268" r:id="R1a740ab8331d4ac8"/>
    <p:sldId xmlns:r="http://schemas.openxmlformats.org/officeDocument/2006/relationships" id="269" r:id="Rc99a88783ca84719"/>
    <p:sldId xmlns:r="http://schemas.openxmlformats.org/officeDocument/2006/relationships" id="270" r:id="R9d0b407d7bb2482e"/>
    <p:sldId xmlns:r="http://schemas.openxmlformats.org/officeDocument/2006/relationships" id="271" r:id="R95ef610db13b44c0"/>
    <p:sldId xmlns:r="http://schemas.openxmlformats.org/officeDocument/2006/relationships" id="272" r:id="R5768ed5ec02243d5"/>
    <p:sldId xmlns:r="http://schemas.openxmlformats.org/officeDocument/2006/relationships" id="273" r:id="R45476e993e8e4dea"/>
    <p:sldId xmlns:r="http://schemas.openxmlformats.org/officeDocument/2006/relationships" id="274" r:id="R4ed98b9e6d7b4507"/>
    <p:sldId xmlns:r="http://schemas.openxmlformats.org/officeDocument/2006/relationships" id="275" r:id="Rbffdf5aa17fd4c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dac9cf1f54ecf" /><Relationship Type="http://schemas.openxmlformats.org/officeDocument/2006/relationships/theme" Target="/ppt/theme/theme1.xml" Id="R975d660ce6cc46d1" /><Relationship Type="http://schemas.openxmlformats.org/officeDocument/2006/relationships/notesMaster" Target="/ppt/notesMasters/notesMaster1.xml" Id="R310968bf2d944f90" /><Relationship Type="http://schemas.openxmlformats.org/officeDocument/2006/relationships/presProps" Target="/ppt/presProps.xml" Id="R6a42be33ef6e43cf" /><Relationship Type="http://schemas.openxmlformats.org/officeDocument/2006/relationships/viewProps" Target="/ppt/viewProps.xml" Id="R6ef7f80b795d481f" /><Relationship Type="http://schemas.openxmlformats.org/officeDocument/2006/relationships/tableStyles" Target="/ppt/tableStyles.xml" Id="Rc74a2717037d402b" /><Relationship Type="http://schemas.openxmlformats.org/officeDocument/2006/relationships/slide" Target="/ppt/slides/slide1.xml" Id="R4ec37f7aabe444e3" /><Relationship Type="http://schemas.openxmlformats.org/officeDocument/2006/relationships/slide" Target="/ppt/slides/slide2.xml" Id="Rd69e39946f374d4a" /><Relationship Type="http://schemas.openxmlformats.org/officeDocument/2006/relationships/slide" Target="/ppt/slides/slide3.xml" Id="R5dc333e939374509" /><Relationship Type="http://schemas.openxmlformats.org/officeDocument/2006/relationships/slide" Target="/ppt/slides/slide4.xml" Id="R9531093f958245dc" /><Relationship Type="http://schemas.openxmlformats.org/officeDocument/2006/relationships/slide" Target="/ppt/slides/slide5.xml" Id="Rf82ff5c7623046fd" /><Relationship Type="http://schemas.openxmlformats.org/officeDocument/2006/relationships/slide" Target="/ppt/slides/slide6.xml" Id="Rb40f3645d7504a49" /><Relationship Type="http://schemas.openxmlformats.org/officeDocument/2006/relationships/slide" Target="/ppt/slides/slide7.xml" Id="Rb7cd57ab5313479d" /><Relationship Type="http://schemas.openxmlformats.org/officeDocument/2006/relationships/slide" Target="/ppt/slides/slide8.xml" Id="Rada8ddb2efc44c4a" /><Relationship Type="http://schemas.openxmlformats.org/officeDocument/2006/relationships/slide" Target="/ppt/slides/slide9.xml" Id="R07acf1d8b8e54865" /><Relationship Type="http://schemas.openxmlformats.org/officeDocument/2006/relationships/slide" Target="/ppt/slides/slide10.xml" Id="R70cb5145f84b4b76" /><Relationship Type="http://schemas.openxmlformats.org/officeDocument/2006/relationships/slide" Target="/ppt/slides/slide11.xml" Id="R5061f36dce86432c" /><Relationship Type="http://schemas.openxmlformats.org/officeDocument/2006/relationships/slide" Target="/ppt/slides/slide12.xml" Id="R0b1fa4fb3a694d1f" /><Relationship Type="http://schemas.openxmlformats.org/officeDocument/2006/relationships/slide" Target="/ppt/slides/slide13.xml" Id="R1a740ab8331d4ac8" /><Relationship Type="http://schemas.openxmlformats.org/officeDocument/2006/relationships/slide" Target="/ppt/slides/slide14.xml" Id="Rc99a88783ca84719" /><Relationship Type="http://schemas.openxmlformats.org/officeDocument/2006/relationships/slide" Target="/ppt/slides/slide15.xml" Id="R9d0b407d7bb2482e" /><Relationship Type="http://schemas.openxmlformats.org/officeDocument/2006/relationships/slide" Target="/ppt/slides/slide16.xml" Id="R95ef610db13b44c0" /><Relationship Type="http://schemas.openxmlformats.org/officeDocument/2006/relationships/slide" Target="/ppt/slides/slide17.xml" Id="R5768ed5ec02243d5" /><Relationship Type="http://schemas.openxmlformats.org/officeDocument/2006/relationships/slide" Target="/ppt/slides/slide18.xml" Id="R45476e993e8e4dea" /><Relationship Type="http://schemas.openxmlformats.org/officeDocument/2006/relationships/slide" Target="/ppt/slides/slide19.xml" Id="R4ed98b9e6d7b4507" /><Relationship Type="http://schemas.openxmlformats.org/officeDocument/2006/relationships/slide" Target="/ppt/slides/slide20.xml" Id="Rbffdf5aa17fd4c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3a81056aa214f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86a44b8d854933" /><Relationship Type="http://schemas.openxmlformats.org/officeDocument/2006/relationships/notesMaster" Target="/ppt/notesMasters/notesMaster1.xml" Id="R40fd96300b7349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fa3c7fbba0491b" /><Relationship Type="http://schemas.openxmlformats.org/officeDocument/2006/relationships/notesMaster" Target="/ppt/notesMasters/notesMaster1.xml" Id="R76a9c7d8d12341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2b708d66d345c0" /><Relationship Type="http://schemas.openxmlformats.org/officeDocument/2006/relationships/notesMaster" Target="/ppt/notesMasters/notesMaster1.xml" Id="R338cc9ca5acc4b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f22ab766e94275" /><Relationship Type="http://schemas.openxmlformats.org/officeDocument/2006/relationships/notesMaster" Target="/ppt/notesMasters/notesMaster1.xml" Id="Re802b353b78743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e876c4872a492a" /><Relationship Type="http://schemas.openxmlformats.org/officeDocument/2006/relationships/notesMaster" Target="/ppt/notesMasters/notesMaster1.xml" Id="R505cf882a76849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db63c9eb3f41a5" /><Relationship Type="http://schemas.openxmlformats.org/officeDocument/2006/relationships/notesMaster" Target="/ppt/notesMasters/notesMaster1.xml" Id="R27d5142d17e34d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a1f0485c5241b8" /><Relationship Type="http://schemas.openxmlformats.org/officeDocument/2006/relationships/notesMaster" Target="/ppt/notesMasters/notesMaster1.xml" Id="Rc754fed59fad4f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c65b05dbd0434e" /><Relationship Type="http://schemas.openxmlformats.org/officeDocument/2006/relationships/notesMaster" Target="/ppt/notesMasters/notesMaster1.xml" Id="R25761a55e84e42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680044cba043ec" /><Relationship Type="http://schemas.openxmlformats.org/officeDocument/2006/relationships/notesMaster" Target="/ppt/notesMasters/notesMaster1.xml" Id="R05d322fdb39641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351ddab06c408e" /><Relationship Type="http://schemas.openxmlformats.org/officeDocument/2006/relationships/notesMaster" Target="/ppt/notesMasters/notesMaster1.xml" Id="Rd913c042c79f48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9b4647c0e844b2" /><Relationship Type="http://schemas.openxmlformats.org/officeDocument/2006/relationships/notesMaster" Target="/ppt/notesMasters/notesMaster1.xml" Id="Rd246ee2139f94b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97c1c3e3bf4ceb" /><Relationship Type="http://schemas.openxmlformats.org/officeDocument/2006/relationships/notesMaster" Target="/ppt/notesMasters/notesMaster1.xml" Id="R99fbeb54a44843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da121900da4d78" /><Relationship Type="http://schemas.openxmlformats.org/officeDocument/2006/relationships/notesMaster" Target="/ppt/notesMasters/notesMaster1.xml" Id="Rd22b6d9dfd644c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c7ddd06aa5461e" /><Relationship Type="http://schemas.openxmlformats.org/officeDocument/2006/relationships/notesMaster" Target="/ppt/notesMasters/notesMaster1.xml" Id="R880a8a6f61b74e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ef9b9137c6434c" /><Relationship Type="http://schemas.openxmlformats.org/officeDocument/2006/relationships/notesMaster" Target="/ppt/notesMasters/notesMaster1.xml" Id="R809d229adfcb40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be609b47a84a8b" /><Relationship Type="http://schemas.openxmlformats.org/officeDocument/2006/relationships/notesMaster" Target="/ppt/notesMasters/notesMaster1.xml" Id="Rb7ae2a75256344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71e8ad1ade40a6" /><Relationship Type="http://schemas.openxmlformats.org/officeDocument/2006/relationships/notesMaster" Target="/ppt/notesMasters/notesMaster1.xml" Id="Rb0d82eece33d4e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cd224cafa04344" /><Relationship Type="http://schemas.openxmlformats.org/officeDocument/2006/relationships/notesMaster" Target="/ppt/notesMasters/notesMaster1.xml" Id="Rf765422c0ea14a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5d9d218497404a" /><Relationship Type="http://schemas.openxmlformats.org/officeDocument/2006/relationships/notesMaster" Target="/ppt/notesMasters/notesMaster1.xml" Id="Re4b65d8727c04b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3f27aef2fb74c87" /><Relationship Type="http://schemas.openxmlformats.org/officeDocument/2006/relationships/notesMaster" Target="/ppt/notesMasters/notesMaster1.xml" Id="R8cad8e5056c145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Задать рамку: harness делает агента системой.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боль без рантайма.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Объяснить базовый цикл шага.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Отделить модель от среды исполнения.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тему информационного слоя.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Разложить контекст на источники.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память как набор разных режимов.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Ввести слой ограничений и допуска.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Показать, что tool call — контракт.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Перейти от шага к orchestration.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Развести роли внутри выполнения.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Дать критерии для декомпозиции.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fan-out/fan-in без гонок.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Зафиксировать observability как обязательство.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тему отказоустойчивости и trust.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механику управляемых сбоев.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Показать, где решение оставляют человеку.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Собрать слои в единый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Оставить инженерные правила проектирования.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Закрыть тезисом: LLM мало без harness.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0a6a9173d4dbd" /></Relationships>
</file>

<file path=ppt/slideLayouts/slideLayout2.xml><?xml version="1.0" encoding="utf-8"?>
<p:sldLayout xmlns:p="http://schemas.openxmlformats.org/presentationml/2006/main" type="blank">
  <p:cSld name="Blank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2093f38c47e4dfd" /><Relationship Type="http://schemas.openxmlformats.org/officeDocument/2006/relationships/slideLayout" Target="/ppt/slideLayouts/slideLayout2.xml" Id="Rf22f859d04964ec2" /></Relationships>
</file>

<file path=ppt/slideMasters/slideMaster1.xml><?xml version="1.0" encoding="utf-8"?>
<p:sldMaster xmlns:p="http://schemas.openxmlformats.org/presentationml/2006/main">
  <p:cSld name="Blank Slid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2f859d04964e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f334c45cef4c0e" /><Relationship Type="http://schemas.openxmlformats.org/officeDocument/2006/relationships/notesSlide" Target="/ppt/notesSlides/notesSlide1.xml" Id="R648e514464cd41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ffd3491adc48ea" /><Relationship Type="http://schemas.openxmlformats.org/officeDocument/2006/relationships/notesSlide" Target="/ppt/notesSlides/notesSlide2.xml" Id="R8b745b022b3640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7b11b0730e495c" /><Relationship Type="http://schemas.openxmlformats.org/officeDocument/2006/relationships/image" Target="/ppt/media/image.png" Id="R3eaff202bcd947b7" /><Relationship Type="http://schemas.openxmlformats.org/officeDocument/2006/relationships/notesSlide" Target="/ppt/notesSlides/notesSlide3.xml" Id="R935fbb00f53e48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17d38d19b1400b" /><Relationship Type="http://schemas.openxmlformats.org/officeDocument/2006/relationships/notesSlide" Target="/ppt/notesSlides/notesSlide4.xml" Id="R5bc84bdd748946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b8307ac5a443fe" /><Relationship Type="http://schemas.openxmlformats.org/officeDocument/2006/relationships/notesSlide" Target="/ppt/notesSlides/notesSlide5.xml" Id="R22e40a183b7141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32c61e592242e4" /><Relationship Type="http://schemas.openxmlformats.org/officeDocument/2006/relationships/notesSlide" Target="/ppt/notesSlides/notesSlide6.xml" Id="R9fd343e02a4e47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71a03e2dcb4b18" /><Relationship Type="http://schemas.openxmlformats.org/officeDocument/2006/relationships/notesSlide" Target="/ppt/notesSlides/notesSlide7.xml" Id="Rc0d4284e256c48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7e147814dd4cfd" /><Relationship Type="http://schemas.openxmlformats.org/officeDocument/2006/relationships/image" Target="/ppt/media/image2.png" Id="Rdb827e7e89154209" /><Relationship Type="http://schemas.openxmlformats.org/officeDocument/2006/relationships/notesSlide" Target="/ppt/notesSlides/notesSlide8.xml" Id="Rffd2b614ed0647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c66d915e7c4cbc" /><Relationship Type="http://schemas.openxmlformats.org/officeDocument/2006/relationships/notesSlide" Target="/ppt/notesSlides/notesSlide9.xml" Id="Rfca9e8fbb1804b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a54c5c28c246b7" /><Relationship Type="http://schemas.openxmlformats.org/officeDocument/2006/relationships/notesSlide" Target="/ppt/notesSlides/notesSlide10.xml" Id="Rb7bbe217785c44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14ef487bf548fc" /><Relationship Type="http://schemas.openxmlformats.org/officeDocument/2006/relationships/notesSlide" Target="/ppt/notesSlides/notesSlide11.xml" Id="Rc9cb6981d2e742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e9452a99fa48c4" /><Relationship Type="http://schemas.openxmlformats.org/officeDocument/2006/relationships/notesSlide" Target="/ppt/notesSlides/notesSlide12.xml" Id="Ra35358a8b25640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46f95518a14880" /><Relationship Type="http://schemas.openxmlformats.org/officeDocument/2006/relationships/image" Target="/ppt/media/image3.png" Id="Rf006ed0bcb8f4af3" /><Relationship Type="http://schemas.openxmlformats.org/officeDocument/2006/relationships/notesSlide" Target="/ppt/notesSlides/notesSlide13.xml" Id="R54d6c3fc52794b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ec5810f6004746" /><Relationship Type="http://schemas.openxmlformats.org/officeDocument/2006/relationships/notesSlide" Target="/ppt/notesSlides/notesSlide14.xml" Id="R1c1ff3ad4ffb4b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1c303db8a45e1" /><Relationship Type="http://schemas.openxmlformats.org/officeDocument/2006/relationships/notesSlide" Target="/ppt/notesSlides/notesSlide15.xml" Id="R032fa96214cb4e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425f31d80844b6" /><Relationship Type="http://schemas.openxmlformats.org/officeDocument/2006/relationships/notesSlide" Target="/ppt/notesSlides/notesSlide16.xml" Id="R3d0faa1606064c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13bee72639429a" /><Relationship Type="http://schemas.openxmlformats.org/officeDocument/2006/relationships/image" Target="/ppt/media/image4.png" Id="Rcf1ad93d4d30448a" /><Relationship Type="http://schemas.openxmlformats.org/officeDocument/2006/relationships/notesSlide" Target="/ppt/notesSlides/notesSlide17.xml" Id="R386f1c8223c443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f1b628acde408d" /><Relationship Type="http://schemas.openxmlformats.org/officeDocument/2006/relationships/image" Target="/ppt/media/image5.png" Id="R5c59918f8fa54739" /><Relationship Type="http://schemas.openxmlformats.org/officeDocument/2006/relationships/notesSlide" Target="/ppt/notesSlides/notesSlide18.xml" Id="Rbd42da1bf97f44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b182aeca444892" /><Relationship Type="http://schemas.openxmlformats.org/officeDocument/2006/relationships/notesSlide" Target="/ppt/notesSlides/notesSlide19.xml" Id="Ra6c45c03e69b4a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8a30d09d204fe9" /><Relationship Type="http://schemas.openxmlformats.org/officeDocument/2006/relationships/notesSlide" Target="/ppt/notesSlides/notesSlide20.xml" Id="R3efe5253c0b145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2D412-CEEB-4A32-A857-3CCE7166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BDBF0-E943-4F5B-AA88-BEAC6967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67378-6E65-4A3F-9A03-63A0FF19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BB88C-0400-41F7-9D83-092444D2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D847E-6229-45AA-A024-924B0249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202CF-4833-4191-9591-2D970AA5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D2769-E3ED-4F9D-AB5E-CA0DAB24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627D4-29F0-4994-8995-7A81D0B9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291DB-CEF1-4424-A701-0F2EBE96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79C28-363B-401A-9C79-0646A3F3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E40C5-2634-41CF-A786-5DAFF6D8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5D752-8946-47EB-8FD7-662C0C7C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BBF97-ED4C-48BF-8273-7B8ED63A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E3780-484D-4C6A-9CC6-499ECBB1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0936A-FC27-4A17-8A5F-D9C86CCB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16D91-0DE5-4B04-9BBB-1ADC0903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E9B40-AC7D-480F-B5F9-0EEB42E0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4C996-7452-4695-891F-7A1C9916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6EE55-4936-417F-9485-B37E160C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"/>
            <a:ext cx="96393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23042"/>
          </a:solidFill>
          <a:ln xmlns:a="http://schemas.openxmlformats.org/drawingml/2006/main" w="12383">
            <a:solidFill>
              <a:srgbClr val="1555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C0348-979D-4B22-A967-CE20EDBF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3524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557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7FAF7-82F1-437E-A4C0-4E407573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28750"/>
            <a:ext cx="4572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1240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8E5D2-5F22-4AC8-BB95-3E1B4F7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23812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2B6B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1C790A-FAB6-43DE-B123-A3219CB4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723900"/>
            <a:ext cx="3886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C9CE1A-DB6B-49F1-B372-F827C222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7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A46677-6465-4C84-83FE-5B7A21AD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71525"/>
            <a:ext cx="3409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5E0FF"/>
                </a:solidFill>
              </a:defRPr>
            </a:pPr>
            <a:r>
              <a:rPr sz="1125" b="1">
                <a:solidFill>
                  <a:srgbClr val="35E0FF"/>
                </a:solidFill>
              </a:rPr>
              <a:t>AGENT RUNTIME / CONTROL ROOM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835656-09A1-4975-BE19-869D6E4E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3F7FB"/>
                </a:solidFill>
              </a:defRPr>
            </a:pPr>
            <a:r>
              <a:rPr sz="4350" b="1">
                <a:solidFill>
                  <a:srgbClr val="F3F7FB"/>
                </a:solidFill>
              </a:rPr>
              <a:t>Агентский harness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961A60-E9E3-46BD-8C89-0E4DB48A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516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6B5C2"/>
                </a:solidFill>
              </a:defRPr>
            </a:pPr>
            <a:r>
              <a:rPr sz="1650" b="0">
                <a:solidFill>
                  <a:srgbClr val="A6B5C2"/>
                </a:solidFill>
              </a:rPr>
              <a:t>Операционная среда для LLM-агентов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BDDC6-BDA9-468D-BCC4-9DA22E40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6B5C2"/>
                </a:solidFill>
              </a:defRPr>
            </a:pPr>
            <a:r>
              <a:rPr sz="1350" b="1">
                <a:solidFill>
                  <a:srgbClr val="A6B5C2"/>
                </a:solidFill>
              </a:rPr>
              <a:t>Что это такое и по каким принципам он работает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AE1D47-B7CD-444A-8553-3FA5AA08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05200"/>
            <a:ext cx="1352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8AC467-8436-4B6C-A8FC-21DBA9F0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528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E0FF"/>
                </a:solidFill>
              </a:defRPr>
            </a:pPr>
            <a:r>
              <a:rPr sz="1050" b="1">
                <a:solidFill>
                  <a:srgbClr val="35E0FF"/>
                </a:solidFill>
              </a:rPr>
              <a:t>КОНТЕКСТ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876233-C337-45E0-8B4A-7899AF86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05200"/>
            <a:ext cx="1352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AA1689-BF20-436E-A157-3AEFB35C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528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3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E0FF"/>
                </a:solidFill>
              </a:defRPr>
            </a:pPr>
            <a:r>
              <a:rPr sz="1050" b="1">
                <a:solidFill>
                  <a:srgbClr val="35E0FF"/>
                </a:solidFill>
              </a:rPr>
              <a:t>ИНСТРУМЕНТЫ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F69122-1BBD-4450-8EB2-0D4389CD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05200"/>
            <a:ext cx="1352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FFBF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50E75A-50B9-4952-B250-04F699D9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528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F3C"/>
                </a:solidFill>
              </a:defRPr>
            </a:pPr>
            <a:r>
              <a:rPr sz="1050" b="1">
                <a:solidFill>
                  <a:srgbClr val="FFBF3C"/>
                </a:solidFill>
              </a:rPr>
              <a:t>КОНТРОЛЬ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5C7E0C-3AF5-4D0E-829C-B897686B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05200"/>
            <a:ext cx="1352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1464F8-EF81-44FB-81EE-4D94C34E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528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E0FF"/>
                </a:solidFill>
              </a:defRPr>
            </a:pPr>
            <a:r>
              <a:rPr sz="1050" b="1">
                <a:solidFill>
                  <a:srgbClr val="35E0FF"/>
                </a:solidFill>
              </a:rPr>
              <a:t>НАДЕЖНОСТЬ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E073AF-BF1F-465A-BE56-47E0CF52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05300"/>
            <a:ext cx="2724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A726EC-A542-40E0-9FD8-3AB1D5B3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14850"/>
            <a:ext cx="222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F039A4-0F24-4E3A-9CC5-18C6D08C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4820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3 СЛОЯ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83547C-1E6A-4C6B-98BB-FD34F727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67300"/>
            <a:ext cx="2266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Контекст, оркестрация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и надежность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превращают модель в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работающую систему.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BEBA98-2D86-45F6-8E73-AE9044D4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05300"/>
            <a:ext cx="2724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96A70C-689A-4D7F-8362-EA76A7AC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14850"/>
            <a:ext cx="222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188818-6136-4A20-BB45-A46340D9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4820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ДВИГАТЕЛЬ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5C16B4-614D-4E02-A18E-342A8B44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67300"/>
            <a:ext cx="2266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LLM дает рассуждение,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но не управляет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риском, средой и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артефактами.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A39BAD-1F99-4191-9C35-A06857E0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05300"/>
            <a:ext cx="2724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323160-52F7-40E9-968A-C1BBE48C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14850"/>
            <a:ext cx="222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12BB76-C74E-4181-9F79-832A2BF6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ШАССИ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F2CC42-2BAF-48FF-9F29-3421383A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2266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Harness собирает вход,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допускает действия и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фиксирует след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исполнения.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1576986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BB923-1225-4E05-AC6D-68143A33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8BC5D-1B25-45A6-A1C3-AF3FA420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63EEE-0C0C-4AE6-BC76-690BF211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619BA-2F21-488B-8AB1-29BCE705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995D9-79D9-40CD-8DD9-FC15E1BA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AFE33-BB6F-4A8B-A87B-D50FEF69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1453B-6EED-46DB-B8B7-E5520FDF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2D42C-31AF-4838-981A-A9AB008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BBFAF-11A9-45D3-924D-152FCF93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6874F-A6A8-403D-9B56-7AE2E972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812EF-5C38-4A37-BBC2-2D2C27F6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90B88-929F-4557-B732-CDFC1EDA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988D4-877F-42BF-95D3-F83F29A9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7FE69-649E-4F44-8CB6-6C1E54B1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25551-F351-4267-AE45-621DF4ED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5D603-3263-4B84-BFAF-800398F2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BE0D9-C4B9-4D42-80C9-0B3C5DC7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444DE-4440-4133-921A-6EE24400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D9C4C-579A-410F-BF2A-937A975A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57112-3D54-4B6E-8A73-9D8A8CDA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5F551-1CED-4819-9B23-08A9DBD9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ПРОБЛЕМА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B1CA3-B0F4-45F6-BCEF-7D94119F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44005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3F7FB"/>
                </a:solidFill>
              </a:defRPr>
            </a:pPr>
            <a:r>
              <a:rPr sz="4050" b="1">
                <a:solidFill>
                  <a:srgbClr val="F3F7FB"/>
                </a:solidFill>
              </a:rPr>
              <a:t>Почему вообще нужен harness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2D3CD2-9637-4ABC-89D7-13C480BE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5C2"/>
                </a:solidFill>
              </a:defRPr>
            </a:pPr>
            <a:r>
              <a:rPr sz="1575" b="0">
                <a:solidFill>
                  <a:srgbClr val="A6B5C2"/>
                </a:solidFill>
              </a:rPr>
              <a:t>Без рантайма агент остается удачным демо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6C4376-7864-4CC3-BC81-2C1565A1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2450"/>
            <a:ext cx="1905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1B2999-9971-4ACC-AF78-A6BEF15A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8958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D68ADE-981A-4391-B154-D9CC3762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440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B7E80F-A3FD-4F2F-A6AD-45C42F97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F3C"/>
                </a:solidFill>
              </a:defRPr>
            </a:pPr>
            <a:r>
              <a:rPr sz="1200" b="1">
                <a:solidFill>
                  <a:srgbClr val="FFBF3C"/>
                </a:solidFill>
              </a:rPr>
              <a:t>ОДИНОЧНЫЙ PROMPT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306FB4-9E49-4DBE-B1AA-2859D457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438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Хороший ответ не равен управляемому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выполнению. Без harness модель не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держит среду, не знает политик и не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оставляет воспроизводимый след.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0B81F7-5C47-4558-B86C-D55AAC30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2247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535CFB-7168-4192-A5A0-A9FCBF12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6732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ТЕКСТ ≠ ВЫПОЛНЕНИЕ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227F39-0556-4DAD-87FD-67D359D6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2362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FFBF3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243B80-C716-4A0E-A8DE-7AF9EAA5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67325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F3C"/>
                </a:solidFill>
              </a:defRPr>
            </a:pPr>
            <a:r>
              <a:rPr sz="900" b="1">
                <a:solidFill>
                  <a:srgbClr val="FFBF3C"/>
                </a:solidFill>
              </a:rPr>
              <a:t>HARNESS = УПРАВЛЯЕМЫЙ ШАГ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7E9A35-170B-4151-BBC1-3CE23A74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85800"/>
            <a:ext cx="4876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20C35C-E8B5-457C-8D8D-AA593927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9535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2D36B3-454D-4033-95FC-045E9319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2870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СРЕДА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3BC985-E691-45A7-9081-CD7B0C3A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47800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16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Модель сама не управляет доступами и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внешним миром.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B924A7-A79F-45B7-A716-9C36AC47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876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897182-3D65-4216-84A7-D0D049C4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89D173-E52F-46E7-B573-051D3CBB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098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КОНТЕКСТ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654D14-4875-4B12-9414-658E899A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28950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16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История быстро разрастается и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вытесняет полезный сигнал.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18ED86-84AA-43B0-B671-4A9254C8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4876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8453A3-C649-4C60-8C13-A6058492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5765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D502D7-6780-4CE9-B549-EECEB88C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9100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КОНТРАКТ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17300F-7199-4A18-9613-5FAA8B25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10100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16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Вызовы инструментов требуют схемы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входов и понятного результата.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B2C803-89FA-4EBF-8D7E-8D05C8F5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29250"/>
            <a:ext cx="4876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A3A8F5-50E8-43C4-A4EE-A29E9D73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880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89A626-2C5D-4EC1-B203-B2924BF5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7721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СЛЕДЫ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CEBBC9-5765-4083-8FC3-D0CE44E0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191250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277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Без логов, артефактов и политик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результат нельзя повторить и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24988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39AEF-61F9-40B1-9BB5-8B1651FA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4E836-2DD4-4F44-A65C-FBB946FD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E0D0A-0F23-498E-9B4D-B377AF84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D069-B58B-45FD-BCC0-8FAF3571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CFC6E-DAA5-4F15-9204-6B7747CA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8267F-B001-49DC-A080-4B7A5611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953A9-779F-4E4C-AFB9-233F35C7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F61A0-5799-4C5D-A353-288E0AAA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9FFEA-7E04-4029-97C7-6A45D2A1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D1356-7F4F-44F3-AC84-0A8D02FD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5D846-284B-496B-B597-CD44D005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C1A40-DAEE-4377-A14D-330D0938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DB344-F71A-409F-9F02-1772B355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03259-D45D-499E-8018-EEA08D2D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BA868-B96B-4DD5-95CF-FBB65F9F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BD1A1-AD23-499C-A457-D58125E0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F31CC-43C5-4432-860B-86BC5902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9B221-0AEF-4D6C-AE66-F463EE92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6F80C-8F95-44AD-B39D-64E500D1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1A39A-64EB-4672-97B2-3943A593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56F08-2792-436D-BEB7-78E18992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БАЗОВЫЙ КОНТУР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BB918-D2CC-47A4-805A-0A269E4C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4514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22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3F7FB"/>
                </a:solidFill>
              </a:defRPr>
            </a:pPr>
            <a:r>
              <a:rPr sz="3900" b="1">
                <a:solidFill>
                  <a:srgbClr val="F3F7FB"/>
                </a:solidFill>
              </a:rPr>
              <a:t>Что такое agent 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670621-D3B1-42E8-9C7E-DF303227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5C2"/>
                </a:solidFill>
              </a:defRPr>
            </a:pPr>
            <a:r>
              <a:rPr sz="1575" b="0">
                <a:solidFill>
                  <a:srgbClr val="A6B5C2"/>
                </a:solidFill>
              </a:rPr>
              <a:t>Базовый цикл любого агентного шага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A78304-9A2C-4A86-BBBD-A664BAE6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09575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24309E-157C-43EB-AA31-0AA3DDED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60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BB044-7E8C-4AD6-9A10-72E22F5D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34290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Наблюдение: собрать состояние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План: выбрать действие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Действие: вызвать инструмент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Проверка: оценить результат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Повтор: обновить контекст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ff202bcd947b7"/>
          <a:stretch xmlns:a="http://schemas.openxmlformats.org/drawingml/2006/main"/>
        </p:blipFill>
        <p:spPr>
          <a:xfrm xmlns:a="http://schemas.openxmlformats.org/drawingml/2006/main">
            <a:off x="5219700" y="2838450"/>
            <a:ext cx="6134100" cy="2038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65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8F938-9F91-4FB3-8D35-B5E60FDA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6C02A-A7F0-4D4A-99FA-9DD52AEC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06879-2E37-470A-B8B3-FE0F6A17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6F4E2-D50A-4477-99F5-361F7534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9ABDE-4AEE-4A9E-AEAE-578CD451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3871B-97E7-4602-934D-20BF21AB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B8BA7-952F-42B1-95E5-786F11F0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606B1-F556-4798-8323-56D37FB3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D3E45-44DA-41C6-9618-9602B65C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5C64F-248F-4098-8CD0-10E9B617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A33A5-22D1-44C2-B9C6-6A91DAB5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21803-3250-4A0F-A135-360D4D0D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FDBC6-32B6-4BD5-81B2-5C5089CD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8E8F4-DFBC-48EB-9BCD-4C837949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249FD-A6F7-4068-B644-94FC897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8F71F-2868-493F-8D1F-5FAD2DCC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FDE32-2DB2-421E-9245-33C3FD65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A1E85-019E-48F9-A5D9-7925D162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BBE39-C08F-46FF-85CE-6816D141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"/>
            <a:ext cx="96393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23042"/>
          </a:solidFill>
          <a:ln xmlns:a="http://schemas.openxmlformats.org/drawingml/2006/main" w="12383">
            <a:solidFill>
              <a:srgbClr val="1555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33889-27D8-41BE-A33A-F822D2F0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031FB-8869-498C-9DF1-CC4A3355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40D89-C254-4562-A554-888AB15E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ОПРЕДЕЛЕНИЕ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F9AA97-D40A-4D4A-8DF9-63B20616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38200"/>
            <a:ext cx="8763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0487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3F7FB"/>
                </a:solidFill>
              </a:defRPr>
            </a:pPr>
            <a:r>
              <a:rPr sz="4350" b="1">
                <a:solidFill>
                  <a:srgbClr val="F3F7FB"/>
                </a:solidFill>
              </a:rPr>
              <a:t>Harness как операционная среда агента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24CA37-6CF4-4D01-A25D-A0CE6FA8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9550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5C2"/>
                </a:solidFill>
              </a:defRPr>
            </a:pPr>
            <a:r>
              <a:rPr sz="1575" b="0">
                <a:solidFill>
                  <a:srgbClr val="A6B5C2"/>
                </a:solidFill>
              </a:rPr>
              <a:t>Модель рассуждает, harness управляет выполнением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0B7943-4826-4D0A-8A83-9140C76A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33650"/>
            <a:ext cx="42291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8964D-9025-403F-BD87-7E1176F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241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B9FAB9-B6F7-458D-BE67-9826539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2895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5E0FF"/>
                </a:solidFill>
              </a:defRPr>
            </a:pPr>
            <a:r>
              <a:rPr sz="1950" b="1">
                <a:solidFill>
                  <a:srgbClr val="35E0FF"/>
                </a:solidFill>
              </a:rPr>
              <a:t>Контекст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A30712-EDD5-4E7B-87FD-F2A7CBD4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623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1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Собирает инструкции,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память и состояние на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входе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50D17F-219B-4631-BDD8-8EC08F39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33650"/>
            <a:ext cx="42291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2C8860-F255-4E1B-AAA8-D276AD32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241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187525-7C01-444E-85FC-034E1CB8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F3C"/>
                </a:solidFill>
              </a:defRPr>
            </a:pPr>
            <a:r>
              <a:rPr sz="1950" b="1">
                <a:solidFill>
                  <a:srgbClr val="FFBF3C"/>
                </a:solidFill>
              </a:rPr>
              <a:t>Инструменты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5E6C32-65E8-4355-A785-2F146649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1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Разрешает типизированные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вызовы вместо свободного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текста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3A2495-2695-4372-A0C2-3C472701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24350"/>
            <a:ext cx="42291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14ECD1-249D-4C48-AADA-FF2D0C9F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148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7B8414-F91D-4843-86A7-4418F627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1965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A46"/>
                </a:solidFill>
              </a:defRPr>
            </a:pPr>
            <a:r>
              <a:rPr sz="1950" b="1">
                <a:solidFill>
                  <a:srgbClr val="FF6A46"/>
                </a:solidFill>
              </a:rPr>
              <a:t>Политики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7A388A-5C42-4C43-861F-93150BC7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530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1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Применяет лимиты,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guardrails и правила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эскалации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4D7218-03E5-47FD-830D-50BB4B1D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42291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2CB129-7636-4F63-88B4-F13DCA4D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148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1956C5-7BD7-4059-ADBB-AE301657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1965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F7FB"/>
                </a:solidFill>
              </a:defRPr>
            </a:pPr>
            <a:r>
              <a:rPr sz="1950" b="1">
                <a:solidFill>
                  <a:srgbClr val="F3F7FB"/>
                </a:solidFill>
              </a:rPr>
              <a:t>Следы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412089-0B24-4365-924C-326F6954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530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Фиксирует логи, трейсы и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артефакты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872606-86F6-44A1-A008-D215A695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57900"/>
            <a:ext cx="870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5C2"/>
                </a:solidFill>
              </a:defRPr>
            </a:pPr>
            <a:r>
              <a:rPr sz="1200" b="0">
                <a:solidFill>
                  <a:srgbClr val="A6B5C2"/>
                </a:solidFill>
              </a:rPr>
              <a:t>Не агент, а среда исполнения: вход, доступы, политики, следы.</a:t>
            </a:r>
          </a:p>
        </p:txBody>
      </p:sp>
    </p:spTree>
    <p:extLst>
      <p:ext uri="{BB962C8B-B14F-4D97-AF65-F5344CB8AC3E}">
        <p14:creationId xmlns:p14="http://schemas.microsoft.com/office/powerpoint/2010/main" val="15722475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B5594-402D-4A37-ABE4-84050FEB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88085-A635-48D6-B759-30805771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109CD-FA56-45BF-9C55-BEF7BDD3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2A0EF-9348-47C9-B72D-B86352DF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A3674-A01B-4148-A994-10EE0BDA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CCAD9-C6F1-4C1F-8840-C04524C9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C6C25-9331-4903-A61B-5A39C9DB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046EC-7224-431A-94BC-FB08B1EB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D556B-89EE-49FE-9C99-879E9338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4CB5B-65D0-49F3-9BF6-C71ADF24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9C635-5A8B-4D52-A522-36E622EA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ECBD5-9377-4506-888C-D43B004E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82777-EDB2-461C-B2F5-86F13D96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E5D23-7F01-46F5-BD3E-BCFB5259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B52E8-BC7E-41A5-B492-71D3DC39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4D97E-0626-431C-ABD3-C92B2B40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CEBBD-D658-48AA-A5C9-E649C0AF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B674B-ED6A-47B5-B34E-920179A3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A45BA-A70D-49ED-8E2B-36825765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"/>
            <a:ext cx="96393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23042"/>
          </a:solidFill>
          <a:ln xmlns:a="http://schemas.openxmlformats.org/drawingml/2006/main" w="12383">
            <a:solidFill>
              <a:srgbClr val="1555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5A0D2-0B76-4ED5-8307-DCBCFE2C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85950"/>
            <a:ext cx="9601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12383">
            <a:solidFill>
              <a:srgbClr val="1452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E123D-70A7-44FA-BBF2-C361D963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2885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4150D8-E276-4077-AB8B-1D5C57A3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BD2C3-DF29-46F6-9253-5DF2A445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7647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E0FF"/>
                </a:solidFill>
              </a:defRPr>
            </a:pPr>
            <a:r>
              <a:rPr sz="1050" b="1">
                <a:solidFill>
                  <a:srgbClr val="35E0FF"/>
                </a:solidFill>
              </a:rPr>
              <a:t>СЛОЙ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FB6018-9A89-41F9-8CA1-AC17E12E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33700"/>
            <a:ext cx="1371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123247"/>
                </a:solidFill>
              </a:defRPr>
            </a:pPr>
            <a:r>
              <a:rPr sz="7200" b="1">
                <a:solidFill>
                  <a:srgbClr val="123247"/>
                </a:solidFill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0C14C-4287-4C8D-B599-311CC7FE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9085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7FB"/>
                </a:solidFill>
              </a:defRPr>
            </a:pPr>
            <a:r>
              <a:rPr sz="2550" b="1">
                <a:solidFill>
                  <a:srgbClr val="F3F7FB"/>
                </a:solidFill>
              </a:rPr>
              <a:t>Контекст и память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A76F3-221B-4D7C-87BB-BE40DC65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B5C2"/>
                </a:solidFill>
              </a:defRPr>
            </a:pPr>
            <a:r>
              <a:rPr sz="1650" b="0">
                <a:solidFill>
                  <a:srgbClr val="A6B5C2"/>
                </a:solidFill>
              </a:rPr>
              <a:t>Качество шага начинается с отбора сигнала, а не с объема текста.</a:t>
            </a:r>
          </a:p>
        </p:txBody>
      </p:sp>
    </p:spTree>
    <p:extLst>
      <p:ext uri="{BB962C8B-B14F-4D97-AF65-F5344CB8AC3E}">
        <p14:creationId xmlns:p14="http://schemas.microsoft.com/office/powerpoint/2010/main" val="3459908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5AE0D-2EF8-4EDF-93A6-EF3AC4A6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4F9FF-6488-46FE-B17F-07A75B98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A1D62-0AF3-45E6-83EE-D79712A9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B2DDE-958C-43F1-8EBF-3892818A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35326-36AE-4D5E-BB97-64C60938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D2EC9-A3B0-45AA-849A-AB78426B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5042B-38F2-42DF-A746-84794819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B38E5-D1BD-43DA-953B-7F966DB3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D880C-C778-42EB-ABF3-EE6140A9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E489B-D72E-41AC-ADB4-4CA09A3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69C9E-1117-404B-9816-A8C0E739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6997E-1358-48B1-AFE1-B9F3C553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09A68-D889-43D5-96FA-A03A2138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DCC09-28B1-47B7-8F55-A47E046D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3AB08-37BF-4132-97EF-E300B7AD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8C2E7-6864-42DF-A68D-7299EF89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283B5-3A00-48A5-B9EE-9CAB9316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20BB6-D313-4F45-A9B3-27EF609E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92DA5-BC3B-456D-9E08-7AAFA1B0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"/>
            <a:ext cx="96393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23042"/>
          </a:solidFill>
          <a:ln xmlns:a="http://schemas.openxmlformats.org/drawingml/2006/main" w="12383">
            <a:solidFill>
              <a:srgbClr val="1555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5F05C-7356-431D-9FDD-86CA5297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40EA4-9C81-4F8C-A7E6-E6EC550F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1D13A0-91CA-4AAD-93E4-E1936755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СБОРКА КОНТЕКСТА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4ADDF-F40E-4C86-A98C-1C5FE137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38200"/>
            <a:ext cx="8763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3F7FB"/>
                </a:solidFill>
              </a:defRPr>
            </a:pPr>
            <a:r>
              <a:rPr sz="3450" b="1">
                <a:solidFill>
                  <a:srgbClr val="F3F7FB"/>
                </a:solidFill>
              </a:rPr>
              <a:t>Из чего собирается контекст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45177-4DF6-44C3-A8EA-B7E2D013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240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5C2"/>
                </a:solidFill>
              </a:defRPr>
            </a:pPr>
            <a:r>
              <a:rPr sz="1575" b="0">
                <a:solidFill>
                  <a:srgbClr val="A6B5C2"/>
                </a:solidFill>
              </a:rPr>
              <a:t>Контекст собирают, а не сваливают целиком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F029F-250B-427C-928A-DEFFECB2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33650"/>
            <a:ext cx="42291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6C4E82-4CBA-482A-B915-17462B8E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241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DC9579-9897-43E1-A5BB-62ADC164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2895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5E0FF"/>
                </a:solidFill>
              </a:defRPr>
            </a:pPr>
            <a:r>
              <a:rPr sz="1950" b="1">
                <a:solidFill>
                  <a:srgbClr val="35E0FF"/>
                </a:solidFill>
              </a:rPr>
              <a:t>Инструкции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415EC3-78DD-46B3-8E4D-5A0A125B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623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Системная роль, правила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и формат ответа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8E1C9F-14FB-4E86-92B7-223A91C4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33650"/>
            <a:ext cx="42291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9B8D41-6B2A-42F9-B6B1-8CFF098B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241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79A265-CD84-4247-920F-B38A1E07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F3C"/>
                </a:solidFill>
              </a:defRPr>
            </a:pPr>
            <a:r>
              <a:rPr sz="1950" b="1">
                <a:solidFill>
                  <a:srgbClr val="FFBF3C"/>
                </a:solidFill>
              </a:rPr>
              <a:t>Диалог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F3B96B-EDF3-49BF-AD13-6CB0748E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Запрос пользователя и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релевантная история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563F58-ACD4-44C4-B26A-E2AFB7C0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24350"/>
            <a:ext cx="42291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C596E7-8A2F-433F-8861-9E16D823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148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730132-61AF-49D0-A1EB-A5CCC70B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1965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A46"/>
                </a:solidFill>
              </a:defRPr>
            </a:pPr>
            <a:r>
              <a:rPr sz="1950" b="1">
                <a:solidFill>
                  <a:srgbClr val="FF6A46"/>
                </a:solidFill>
              </a:rPr>
              <a:t>Память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CDB1F0-191C-4373-8DCC-5B935ACA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530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Профили, факты,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черновики и TTL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982DC0-A9E2-4359-ACB5-9E7DEBB5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42291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CC95B2-F284-4C15-8D24-90C90CD8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148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0E1617-64D3-49A5-9165-2E87FF68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1965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F7FB"/>
                </a:solidFill>
              </a:defRPr>
            </a:pPr>
            <a:r>
              <a:rPr sz="1950" b="1">
                <a:solidFill>
                  <a:srgbClr val="F3F7FB"/>
                </a:solidFill>
              </a:rPr>
              <a:t>Среда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DC9F2C-7027-417D-9A14-860A7954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530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Состояние инструментов и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внешние артефакты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9EF98C-51F5-4273-8EEC-046A4424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57900"/>
            <a:ext cx="870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6B5C2"/>
                </a:solidFill>
              </a:defRPr>
            </a:pPr>
            <a:r>
              <a:rPr sz="1200" b="0">
                <a:solidFill>
                  <a:srgbClr val="A6B5C2"/>
                </a:solidFill>
              </a:rPr>
              <a:t>Бюджет токенов режут по слоям: hot context, рабочий набор, холодные хранилища.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7A5D4C-3465-4CB4-9770-FCB67E1D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9055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6CD555-5F59-4070-9EE9-46FBB218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531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E0FF"/>
                </a:solidFill>
              </a:defRPr>
            </a:pPr>
            <a:r>
              <a:rPr sz="825" b="1">
                <a:solidFill>
                  <a:srgbClr val="35E0FF"/>
                </a:solidFill>
              </a:rPr>
              <a:t>СИСТЕМА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6CB287-7185-44A8-9F5E-0655C189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055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3035A2-AC98-4939-B55C-141E3149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531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E0FF"/>
                </a:solidFill>
              </a:defRPr>
            </a:pPr>
            <a:r>
              <a:rPr sz="825" b="1">
                <a:solidFill>
                  <a:srgbClr val="35E0FF"/>
                </a:solidFill>
              </a:rPr>
              <a:t>ЗАДАЧА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D45115-B5C1-4E3B-81F6-0DF6832C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055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AC48ED-D510-4EE7-B948-0796D065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531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E0FF"/>
                </a:solidFill>
              </a:defRPr>
            </a:pPr>
            <a:r>
              <a:rPr sz="825" b="1">
                <a:solidFill>
                  <a:srgbClr val="35E0FF"/>
                </a:solidFill>
              </a:rPr>
              <a:t>ИСТОРИЯ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0C3746-3B22-423F-AB06-9A650D0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9055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DE889D-C9DD-4383-8474-57C80B9A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9531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E0FF"/>
                </a:solidFill>
              </a:defRPr>
            </a:pPr>
            <a:r>
              <a:rPr sz="825" b="1">
                <a:solidFill>
                  <a:srgbClr val="35E0FF"/>
                </a:solidFill>
              </a:rPr>
              <a:t>ПАМЯТЬ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6096D6-0B4D-4145-A9A9-237E7D00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905500"/>
            <a:ext cx="1190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FFBF3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5576FC-FDFA-4F27-8B60-75A3D04D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953125"/>
            <a:ext cx="885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BF3C"/>
                </a:solidFill>
              </a:defRPr>
            </a:pPr>
            <a:r>
              <a:rPr sz="825" b="1">
                <a:solidFill>
                  <a:srgbClr val="FFBF3C"/>
                </a:solidFill>
              </a:rPr>
              <a:t>ИНСТРУМЕНТЫ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9B5ED4-111C-456B-8F4B-FB9FF420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9055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9C700C-1C8D-49A5-A597-F45F5361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9531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E0FF"/>
                </a:solidFill>
              </a:defRPr>
            </a:pPr>
            <a:r>
              <a:rPr sz="825" b="1">
                <a:solidFill>
                  <a:srgbClr val="35E0FF"/>
                </a:solidFill>
              </a:rPr>
              <a:t>АРТЕФАКТЫ</a:t>
            </a:r>
          </a:p>
        </p:txBody>
      </p:sp>
    </p:spTree>
    <p:extLst>
      <p:ext uri="{BB962C8B-B14F-4D97-AF65-F5344CB8AC3E}">
        <p14:creationId xmlns:p14="http://schemas.microsoft.com/office/powerpoint/2010/main" val="313652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4B40E-0A9B-4690-8AA9-024DB36B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EDED2-8043-4BB8-AFF8-AEC13A1A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BB3C6-FDFE-484C-8BDA-F6C36B2A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F3266-7C08-4BCB-B80C-4A4467EA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D389E-AEEC-4B96-A961-EF716277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EAB92-0B5F-435B-A75B-BF2B3809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8490B-15CC-4A36-B151-59703252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BA283-EFBD-49FE-92E3-0F6839FF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2A17D-BEBD-4CCA-B171-8B76D36A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0F1AA-2D36-4A93-AB89-B306DF66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CE1B3-6FF9-4668-A2F2-E753FF2E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E0726-F7D2-4996-AB44-771546E4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9DDAA-B441-44E3-AC6E-A97CC462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666E1-64E9-4BF8-A2FA-75FE5F02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5BB03-3FCD-4B1F-86E3-A12F6D3B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A76AF-0BE0-4B24-877A-3AAF7432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A6AB7-E951-4499-AC44-4D5AC897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EFC44-2514-4E99-9C95-59D8B8CE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A08F3-2B87-4D17-8EBB-B8A60298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BDC62-4036-4760-988C-A370BAD7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4D702-33F1-44EB-9D2B-BF5244B7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РЕЖИМЫ ПАМЯТИ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11F8F-7AFB-4074-BFCC-59CD5CCE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44005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9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F7FB"/>
                </a:solidFill>
              </a:defRPr>
            </a:pPr>
            <a:r>
              <a:rPr sz="3150" b="1">
                <a:solidFill>
                  <a:srgbClr val="F3F7FB"/>
                </a:solidFill>
              </a:rPr>
              <a:t>Память: краткосрочная, рабочая, долговременная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0744F-66D2-4236-BA68-04258B9F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5C2"/>
                </a:solidFill>
              </a:defRPr>
            </a:pPr>
            <a:r>
              <a:rPr sz="1575" b="0">
                <a:solidFill>
                  <a:srgbClr val="A6B5C2"/>
                </a:solidFill>
              </a:rPr>
              <a:t>Три режима, три разных компромисса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90DE84-8814-4D49-A18E-2F4CE1C0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2450"/>
            <a:ext cx="1905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AD444F-6CFC-4605-9559-351EC1CD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8196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A6BFD4-8576-43CD-BF04-B97202FE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32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D6485-2BC0-4421-BEC4-3CCD2674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152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Краткосрочная: текущий диалог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Рабочая: план и черновики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Долговременная: факты и предпочтения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Разный TTL и стоимость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Разный риск устаревания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1BD718-6BB7-424D-AEF4-C10854F1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19250"/>
            <a:ext cx="495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6E1508-A479-4D52-BEA2-4B1C182B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28800"/>
            <a:ext cx="445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19EB19-A08D-4799-AD58-908F8BC1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288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F3C"/>
                </a:solidFill>
              </a:defRPr>
            </a:pPr>
            <a:r>
              <a:rPr sz="1200" b="1">
                <a:solidFill>
                  <a:srgbClr val="FFBF3C"/>
                </a:solidFill>
              </a:rPr>
              <a:t>Краткосрочная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C6FA9C-3670-43CC-BE57-A49761F2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28800"/>
            <a:ext cx="7010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5C2"/>
                </a:solidFill>
              </a:defRPr>
            </a:pPr>
            <a:r>
              <a:rPr sz="1050" b="0">
                <a:solidFill>
                  <a:srgbClr val="A6B5C2"/>
                </a:solidFill>
              </a:rPr>
              <a:t>Минуты / сессия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22A448-760E-4034-ADF8-1BF9EECD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1828800"/>
            <a:ext cx="94869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5C2"/>
                </a:solidFill>
              </a:defRPr>
            </a:pPr>
            <a:r>
              <a:rPr sz="1050" b="0">
                <a:solidFill>
                  <a:srgbClr val="A6B5C2"/>
                </a:solidFill>
              </a:rPr>
              <a:t>Диалог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4EEF79-14F7-44F6-B1A7-321EEE5B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380" y="1828800"/>
            <a:ext cx="124587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5C2"/>
                </a:solidFill>
              </a:defRPr>
            </a:pPr>
            <a:r>
              <a:rPr sz="1050" b="0">
                <a:solidFill>
                  <a:srgbClr val="A6B5C2"/>
                </a:solidFill>
              </a:rPr>
              <a:t>Переполнение</a:t>
            </a:r>
          </a:p>
          <a:p xmlns:a="http://schemas.openxmlformats.org/drawingml/2006/main">
            <a:pPr algn="l">
              <a:defRPr sz="1050" b="0">
                <a:solidFill>
                  <a:srgbClr val="A6B5C2"/>
                </a:solidFill>
              </a:defRPr>
            </a:pPr>
            <a:r>
              <a:rPr sz="1050" b="0">
                <a:solidFill>
                  <a:srgbClr val="A6B5C2"/>
                </a:solidFill>
              </a:rPr>
              <a:t>контекста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4EFD82-A9F1-427A-A6D3-2E1F92DB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57450"/>
            <a:ext cx="495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F6203D-5D84-4996-AF80-CAC76027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445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A201B2-B790-4740-A965-D00359E6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F3C"/>
                </a:solidFill>
              </a:defRPr>
            </a:pPr>
            <a:r>
              <a:rPr sz="1200" b="1">
                <a:solidFill>
                  <a:srgbClr val="FFBF3C"/>
                </a:solidFill>
              </a:rPr>
              <a:t>Рабочая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43562A-CCFD-4BE6-BDF2-9D874D19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7010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5C2"/>
                </a:solidFill>
              </a:defRPr>
            </a:pPr>
            <a:r>
              <a:rPr sz="1050" b="0">
                <a:solidFill>
                  <a:srgbClr val="A6B5C2"/>
                </a:solidFill>
              </a:rPr>
              <a:t>Шаги / задача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F453C0-6ABB-4E8E-A221-7F30CD2E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2667000"/>
            <a:ext cx="94869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5C2"/>
                </a:solidFill>
              </a:defRPr>
            </a:pPr>
            <a:r>
              <a:rPr sz="1050" b="0">
                <a:solidFill>
                  <a:srgbClr val="A6B5C2"/>
                </a:solidFill>
              </a:rPr>
              <a:t>План и черновики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596895-7694-4C27-86CE-20BE1F60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380" y="2667000"/>
            <a:ext cx="124587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5C2"/>
                </a:solidFill>
              </a:defRPr>
            </a:pPr>
            <a:r>
              <a:rPr sz="1050" b="0">
                <a:solidFill>
                  <a:srgbClr val="A6B5C2"/>
                </a:solidFill>
              </a:rPr>
              <a:t>Шум промежуточных</a:t>
            </a:r>
          </a:p>
          <a:p xmlns:a="http://schemas.openxmlformats.org/drawingml/2006/main">
            <a:pPr algn="l">
              <a:defRPr sz="1050" b="0">
                <a:solidFill>
                  <a:srgbClr val="A6B5C2"/>
                </a:solidFill>
              </a:defRPr>
            </a:pPr>
            <a:r>
              <a:rPr sz="1050" b="0">
                <a:solidFill>
                  <a:srgbClr val="A6B5C2"/>
                </a:solidFill>
              </a:rPr>
              <a:t>выводов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E8BF81-BA08-44E1-95BF-D1EAD293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95650"/>
            <a:ext cx="495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25C86F-650F-4CFB-BABB-8BFFEAB0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05200"/>
            <a:ext cx="445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A84518-DF93-4E73-BE55-AB694BA3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F3C"/>
                </a:solidFill>
              </a:defRPr>
            </a:pPr>
            <a:r>
              <a:rPr sz="1200" b="1">
                <a:solidFill>
                  <a:srgbClr val="FFBF3C"/>
                </a:solidFill>
              </a:rPr>
              <a:t>Долговременная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5DA51E-0A6F-48E5-A639-D2F6FEA5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05200"/>
            <a:ext cx="7010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5C2"/>
                </a:solidFill>
              </a:defRPr>
            </a:pPr>
            <a:r>
              <a:rPr sz="1050" b="0">
                <a:solidFill>
                  <a:srgbClr val="A6B5C2"/>
                </a:solidFill>
              </a:rPr>
              <a:t>Дни / месяцы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7D85CB-7BDF-4A09-997A-1EFE85FA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3505200"/>
            <a:ext cx="94869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5C2"/>
                </a:solidFill>
              </a:defRPr>
            </a:pPr>
            <a:r>
              <a:rPr sz="1050" b="0">
                <a:solidFill>
                  <a:srgbClr val="A6B5C2"/>
                </a:solidFill>
              </a:rPr>
              <a:t>Факты и профили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8FA848-DBFF-4069-8E9C-FC8E60AF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380" y="3505200"/>
            <a:ext cx="124587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5C2"/>
                </a:solidFill>
              </a:defRPr>
            </a:pPr>
            <a:r>
              <a:rPr sz="1050" b="0">
                <a:solidFill>
                  <a:srgbClr val="A6B5C2"/>
                </a:solidFill>
              </a:rPr>
              <a:t>Устаревание и</a:t>
            </a:r>
          </a:p>
          <a:p xmlns:a="http://schemas.openxmlformats.org/drawingml/2006/main">
            <a:pPr algn="l">
              <a:defRPr sz="1050" b="0">
                <a:solidFill>
                  <a:srgbClr val="A6B5C2"/>
                </a:solidFill>
              </a:defRPr>
            </a:pPr>
            <a:r>
              <a:rPr sz="1050" b="0">
                <a:solidFill>
                  <a:srgbClr val="A6B5C2"/>
                </a:solidFill>
              </a:rPr>
              <a:t>drift</a:t>
            </a:r>
          </a:p>
        </p:txBody>
      </p:sp>
    </p:spTree>
    <p:extLst>
      <p:ext uri="{BB962C8B-B14F-4D97-AF65-F5344CB8AC3E}">
        <p14:creationId xmlns:p14="http://schemas.microsoft.com/office/powerpoint/2010/main" val="18439452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CD717-289A-4F7D-B481-22FF6912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0E03A-6501-4FE5-9539-61FAE003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54C9A-9D61-4ADC-9AB7-268E70BF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61ED2-2A93-4166-9998-441611AA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522E3-B4CA-459B-81FC-58D69421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982F0-FBE8-4A63-B2B5-614E3605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E86A9-BB74-413A-94FF-E50ADD08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37C41-EF42-4839-959A-C77E7BED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81B49-C495-467D-99D6-5BE80A71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7F733-CD6B-4476-98A2-0B135EFB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C266E-7524-4108-82FA-4C7155A8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52539-0C10-4EFD-98C0-7EA5BE01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DE710-E199-441F-95F7-08C7AAE1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6AF9A-78C1-494B-9BB1-F17D721B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AC07C-0373-4169-AB85-B594E851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6C4B7-7918-4104-B01D-0CE586A7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85E90-4E06-49CB-A2A3-FE7BAB52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9EA64-ACBE-4C64-B8D4-0161CC54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5086C-8F5F-46B4-9059-2325ADEB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EC6B4-A04E-49B0-B1FD-1F53F5B5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903C3-09F0-4484-A14A-C39AB2C8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GUARDRAILS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86F04E-1F4F-4335-B97F-ED5EC293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4514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22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3F7FB"/>
                </a:solidFill>
              </a:defRPr>
            </a:pPr>
            <a:r>
              <a:rPr sz="3900" b="1">
                <a:solidFill>
                  <a:srgbClr val="F3F7FB"/>
                </a:solidFill>
              </a:rPr>
              <a:t>Политики и guardrails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03C913-F896-4ABC-9F7C-A26D056A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84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5C2"/>
                </a:solidFill>
              </a:defRPr>
            </a:pPr>
            <a:r>
              <a:rPr sz="1575" b="0">
                <a:solidFill>
                  <a:srgbClr val="A6B5C2"/>
                </a:solidFill>
              </a:rPr>
              <a:t>Свобода агента заканчивается там, где начинается риск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9EB18-AECA-4DAB-969E-DB171A34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09575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829857-8889-4EB5-A524-A30A189D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60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233DD1-8B8C-4105-BF63-729C2360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34290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Разрешенные инструменты и области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Лимиты токенов и времени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Проверки перед побочными действиями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Фильтры секретов и PII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Эскалация при риске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27e7e89154209"/>
          <a:stretch xmlns:a="http://schemas.openxmlformats.org/drawingml/2006/main"/>
        </p:blipFill>
        <p:spPr>
          <a:xfrm xmlns:a="http://schemas.openxmlformats.org/drawingml/2006/main">
            <a:off x="5219700" y="2838450"/>
            <a:ext cx="6134100" cy="2038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3185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74610-1B57-49D8-8D2A-73F97372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30E5D-5885-454A-9D37-AA9422C0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A3D75-0347-4A01-9595-BBDFEFD0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297ED-25FD-4368-959D-106FE500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FDE79-E811-44E2-8D73-98520CE8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BCD6D-CD36-4D4C-BD71-701B398C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AC560-2020-413C-9F59-ACB4BF17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0D1C9-520A-41D1-B7E3-2DA74560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CDDBD-D629-4AFC-A9F4-F6DE3B66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79870-72D2-475D-AEA9-C1F75AC5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A9E0D-8238-4862-9433-3015A2BA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D2A85-C3D2-4A53-BA28-D8023A20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AC422-E006-49D6-9F68-5C314221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F60C7-AF51-4562-87AC-8465CF5F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7E95B-44F3-4F28-AEA6-A02DE3D2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33E98-9B22-4395-8089-382D7144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5B345-8DD4-4B7B-9464-2808F65B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6248A-9956-493B-950B-7ABBBC86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C3D2B-63E2-44B6-9FB0-9E63F148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0C1A26"/>
          </a:solidFill>
          <a:ln xmlns:a="http://schemas.openxmlformats.org/drawingml/2006/main" w="13335">
            <a:solidFill>
              <a:srgbClr val="1452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20531-CB9E-4B0F-BA53-405F2E99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908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39"/>
          </a:solidFill>
          <a:ln xmlns:a="http://schemas.openxmlformats.org/drawingml/2006/main" w="13335">
            <a:solidFill>
              <a:srgbClr val="1452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10ADB-09F2-4151-8624-396543A7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861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TOOL BUS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B8E33-4133-4A7F-8F1D-F5DDCC37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068A3-8694-4500-9E5B-3F65D070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E0FF"/>
                </a:solidFill>
              </a:defRPr>
            </a:pPr>
            <a:r>
              <a:rPr sz="1050" b="1">
                <a:solidFill>
                  <a:srgbClr val="35E0FF"/>
                </a:solidFill>
              </a:rPr>
              <a:t>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A5DB2-0165-4BC1-A571-C1180023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383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2927E5-AB16-4110-90A2-1563A6A8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8597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E0FF"/>
                </a:solidFill>
              </a:defRPr>
            </a:pPr>
            <a:r>
              <a:rPr sz="1050" b="1">
                <a:solidFill>
                  <a:srgbClr val="35E0FF"/>
                </a:solidFill>
              </a:rPr>
              <a:t>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86831D-1DC6-4844-8376-55C1DC67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387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B4CEA5-7DBD-4633-913D-ECDA8A0E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863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E0FF"/>
                </a:solidFill>
              </a:defRPr>
            </a:pPr>
            <a:r>
              <a:rPr sz="1050" b="1">
                <a:solidFill>
                  <a:srgbClr val="35E0FF"/>
                </a:solidFill>
              </a:rPr>
              <a:t>WRITE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679C20-FFC1-4CCE-9DFC-106921D1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387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FFBF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E67FC7-3E56-4467-A357-C0C67E90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8632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F3C"/>
                </a:solidFill>
              </a:defRPr>
            </a:pPr>
            <a:r>
              <a:rPr sz="1050" b="1">
                <a:solidFill>
                  <a:srgbClr val="FFBF3C"/>
                </a:solidFill>
              </a:rPr>
              <a:t>DEPLOY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E208F1-91B5-4B63-A003-CB0F6D91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09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DB9F7E-234E-4132-9560-974CD419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162C60-4332-4B82-B43B-19DC66A9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9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BC591C-F3FC-45CA-A668-970E1BB6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4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805136-5D63-4EBD-937E-A04D5FAD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48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0790AA-66DF-43A3-A40B-D26050B5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9F4B6A-313B-4817-8A12-9976C66A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B18DD0-B04C-42AA-813A-F3D6B67E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ИСПОЛНИТЕЛЬНЫЕ ОРГАНЫ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C7977B-538E-4802-A1C4-27E2A7CC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914400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016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3F7FB"/>
                </a:solidFill>
              </a:defRPr>
            </a:pPr>
            <a:r>
              <a:rPr sz="3450" b="1">
                <a:solidFill>
                  <a:srgbClr val="F3F7FB"/>
                </a:solidFill>
              </a:rPr>
              <a:t>Инструменты как исполнительные органы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66AA25-F1F2-450A-B37D-68D0D17C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5C2"/>
                </a:solidFill>
              </a:defRPr>
            </a:pPr>
            <a:r>
              <a:rPr sz="1575" b="0">
                <a:solidFill>
                  <a:srgbClr val="A6B5C2"/>
                </a:solidFill>
              </a:rPr>
              <a:t>Tool call важнее красивой мысли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AF44BC-DA62-44A9-851A-13FF3196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53149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9AE2EC-B250-4401-BB56-4C822681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481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A2BECA-D65D-4EB7-9A89-79F67D22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4648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34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Инструмент меняет внешний мир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Каждый вызов имеет контракт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Входы валидируются схемой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Выходы нормализуются в артефакт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Ошибка инструмента не равна мысли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34BEAA-CBB2-4458-9042-EDAF03D0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1E817F-1C92-4BE0-8338-FC8201A3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720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D4CAB2-B062-4ADD-922A-CFE13A03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054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42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READ / SEARCH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CD7696-57D5-4965-8753-FAF9D5A5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245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474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Дают наблюдение без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побочного эффекта.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868802-FAFD-4835-A2CD-778EECFC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22B6E9-39AE-475D-991E-13F02F55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720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6DAB77-EA01-433C-AFAF-1FFD9A57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054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34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F3C"/>
                </a:solidFill>
              </a:defRPr>
            </a:pPr>
            <a:r>
              <a:rPr sz="1200" b="1">
                <a:solidFill>
                  <a:srgbClr val="FFBF3C"/>
                </a:solidFill>
              </a:rPr>
              <a:t>WRITE / DEPLOY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9C5857-9139-42BA-8643-CD3C5AA6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245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277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Требуют approval,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идемпотентность и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аудит.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789121-7A90-4B9B-BCC6-37427FD1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62500"/>
            <a:ext cx="1619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365C4E-7F82-4E7F-AB27-FFF8638A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720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706398-AE75-46CA-A362-A99DF89B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054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ARTIFACT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9DB2A7-74A7-4306-B8AF-4AD3FE07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277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Результат вызова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должен быть пригоден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для следующего шага.</a:t>
            </a:r>
          </a:p>
        </p:txBody>
      </p:sp>
    </p:spTree>
    <p:extLst>
      <p:ext uri="{BB962C8B-B14F-4D97-AF65-F5344CB8AC3E}">
        <p14:creationId xmlns:p14="http://schemas.microsoft.com/office/powerpoint/2010/main" val="15008198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EE8BA-1FAC-42C8-87DD-93BA54DB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C0A6F-7839-44DB-8F7D-1FF29C4B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A892D-7A5E-4C4E-AA2A-7134FECA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BAA06-26DB-458C-A84E-E51AF36F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186D1-0E14-49CF-A171-F2CE3146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0E59E-1DA7-4422-9A9E-BA0E72DA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BC7EE-86CA-4930-9C47-F931F19D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20952-AADE-4380-B058-56DD1B76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739E4-C0B6-4EF2-80B7-A748224F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84C49-F136-40CE-8B8F-1345CE4C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31CAD-E2F1-4EEA-B1BD-7828F93B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5C4F2-1374-4E83-A72D-06D2D76F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476E0-BE82-4BD6-A174-72953DA3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6CEB3-067D-44B2-B116-39BFDC46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9D216-178D-4AB7-BC77-45346D74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4EE10-09E7-4EE4-86B2-B3C697E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28128-D9A4-46D0-9A31-4AC983EA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8D346-256F-4E7A-A10C-D9B483FA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7F077-7CD0-4D0E-A5BB-77C41F80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"/>
            <a:ext cx="96393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23042"/>
          </a:solidFill>
          <a:ln xmlns:a="http://schemas.openxmlformats.org/drawingml/2006/main" w="12383">
            <a:solidFill>
              <a:srgbClr val="1555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ADF94-6B5F-49EC-80F3-27EBA633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85950"/>
            <a:ext cx="9601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12383">
            <a:solidFill>
              <a:srgbClr val="1452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8B705-DDF6-444D-B40D-0ADE0EF0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2885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CCCDE5-E53A-4CDB-868C-242DDECF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0E8B4-2287-4720-AA9C-49EFA4D1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7647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E0FF"/>
                </a:solidFill>
              </a:defRPr>
            </a:pPr>
            <a:r>
              <a:rPr sz="1050" b="1">
                <a:solidFill>
                  <a:srgbClr val="35E0FF"/>
                </a:solidFill>
              </a:rPr>
              <a:t>СЛОЙ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FD4ED-4190-4D25-8911-DF7B2C8D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33700"/>
            <a:ext cx="1371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123247"/>
                </a:solidFill>
              </a:defRPr>
            </a:pPr>
            <a:r>
              <a:rPr sz="7200" b="1">
                <a:solidFill>
                  <a:srgbClr val="123247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EF617C-BB8F-4195-90D1-5CF2677A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9085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7FB"/>
                </a:solidFill>
              </a:defRPr>
            </a:pPr>
            <a:r>
              <a:rPr sz="2550" b="1">
                <a:solidFill>
                  <a:srgbClr val="F3F7FB"/>
                </a:solidFill>
              </a:rPr>
              <a:t>Оркестрация и маршрутизация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8DA526-253E-4EFD-B1DB-0D11DFD3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B5C2"/>
                </a:solidFill>
              </a:defRPr>
            </a:pPr>
            <a:r>
              <a:rPr sz="1650" b="0">
                <a:solidFill>
                  <a:srgbClr val="A6B5C2"/>
                </a:solidFill>
              </a:rPr>
              <a:t>Один агент полезен, система ролей масштабируется лучше.</a:t>
            </a:r>
          </a:p>
        </p:txBody>
      </p:sp>
    </p:spTree>
    <p:extLst>
      <p:ext uri="{BB962C8B-B14F-4D97-AF65-F5344CB8AC3E}">
        <p14:creationId xmlns:p14="http://schemas.microsoft.com/office/powerpoint/2010/main" val="11065586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83069-D563-4641-885F-B1BA877E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6B282-8136-419D-A524-8127B1D4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9B3AA-1A04-45CA-97AF-6BDE3C73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F6E5A-D487-48CF-B2A3-83759AFF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632B9-0F70-40B6-BDB6-229FE590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DBC04-820A-448B-8E78-1F840C7B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FB1FF-34CE-4756-A600-2F5F6B71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DE3F4-A3AD-4768-8EF1-4A329CDD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48766-424C-460C-AD2D-80BA95C7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6E83E-B945-496B-BB59-534C8963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78B15-1475-4247-AD3C-02033A90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E3E5F-615C-4660-B10F-D95D1E39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1239E-9CF2-4E8B-94D2-04801423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CB4E2-F0EA-4C71-A089-6D631A70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3A441-E480-4E43-8E42-9979BF78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9FD3D-9B4B-4792-9C11-97026854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056DE-37B1-43D1-9886-2FEF047B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775FD-61CE-4F20-A7FE-BD08AA6A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9585A-2B3D-4EBA-ADCA-166E4B55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19200"/>
            <a:ext cx="100203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0CCD3-2414-42A4-A02A-1EF0C0F4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4305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3B845-5006-4B50-BF15-553816CC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66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74375-C8A1-4A97-AFA5-E167C480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5906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403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E0FF"/>
                </a:solidFill>
              </a:defRPr>
            </a:pPr>
            <a:r>
              <a:rPr sz="1050" b="1">
                <a:solidFill>
                  <a:srgbClr val="35E0FF"/>
                </a:solidFill>
              </a:rPr>
              <a:t>РОЛИ ВНУТРИ КОНТУРА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F8CD80-E1F1-4CFA-BFD7-18C109E0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3360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7FB"/>
                </a:solidFill>
              </a:defRPr>
            </a:pPr>
            <a:r>
              <a:rPr sz="2550" b="1">
                <a:solidFill>
                  <a:srgbClr val="F3F7FB"/>
                </a:solidFill>
              </a:rPr>
              <a:t>Планировщик, диспетчер, исполнитель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C0E48-3F42-4840-BAE7-097B66E4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051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6B5C2"/>
                </a:solidFill>
              </a:defRPr>
            </a:pPr>
            <a:r>
              <a:rPr sz="1500" b="0">
                <a:solidFill>
                  <a:srgbClr val="A6B5C2"/>
                </a:solidFill>
              </a:rPr>
              <a:t>Три роли внутри одного контура.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CD1A51-0BDA-46FD-AF1C-1F92CFF2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48050"/>
            <a:ext cx="2362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6EDC7-CA26-4EC4-B9B7-C3204C06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5760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8BB2F6-F1B3-41B5-A859-06C7F330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90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ПЛАНИРОВЩИК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178C23-FFAC-4309-95A9-12196005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1005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07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Декомпозирует задачу и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формулирует критерии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готовности.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EDDCAD-D765-4A91-AB0C-9AF10117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48050"/>
            <a:ext cx="2362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BD1DC6-7DA4-400D-B507-1CEB0D70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5760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DB810E-F4B8-4CE9-80C2-0AF125FB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90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F3C"/>
                </a:solidFill>
              </a:defRPr>
            </a:pPr>
            <a:r>
              <a:rPr sz="1200" b="1">
                <a:solidFill>
                  <a:srgbClr val="FFBF3C"/>
                </a:solidFill>
              </a:rPr>
              <a:t>ДИСПЕТЧЕР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156400-F5F5-4DE7-9FA9-DB76E756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1005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07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Выбирает маршрут,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инструмент и порядок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шагов.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663A4A-93DC-464D-9967-09277908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48050"/>
            <a:ext cx="2362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48AA0D-94AA-4F5F-AC94-011B7D35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5760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A0937A-3D03-4D89-AF6C-151D9659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90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A46"/>
                </a:solidFill>
              </a:defRPr>
            </a:pPr>
            <a:r>
              <a:rPr sz="1200" b="1">
                <a:solidFill>
                  <a:srgbClr val="FF6A46"/>
                </a:solidFill>
              </a:rPr>
              <a:t>ИСПОЛНИТЕЛЬ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1F3365-B14B-45AA-9C66-183AB6CE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1005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07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Делает атомарный шаг и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возвращает проверяемый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результат.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1CD657-8F43-4E69-A9A1-A760DCD0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957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041B48-6385-4EA7-A71B-6CF494BD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43927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B3C96-69F6-43DD-AB2D-7EA22329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FD1FB-8E61-424B-BC4F-05503FF5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592B1-7245-45A8-9B57-588381BB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03CAD-50E6-4C5D-8881-1B3B651A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A4A0C-344D-4561-B0C5-CF6B42C6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34986-4E3B-42B7-81F9-DDD062A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4C04D-9652-4AE6-961C-AE018114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FCD3D-6AD9-4C70-94C1-A8EA88BF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76C25-BD63-40B9-92F2-DAB7CE9B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FC646-F172-4CAD-8769-3EE9429B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4291D-638D-4F09-AD14-BD32901F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92F53-1709-4447-B388-A16DB4B0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FF9CA-E0C7-4375-A598-F9C366F5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C8EB1-8669-48B5-8EB4-A680DF31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1E5B5-7E00-4CC1-9398-1E9657B4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3B6AB-DB82-47D6-B8BF-E5B0FDE3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EAEC1-382E-47D6-BBD7-F5667C1C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B03E4-61AE-4A78-8C13-750464FC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1894C1-F6A9-4023-9EF7-B2CE6AF9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"/>
            <a:ext cx="96393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23042"/>
          </a:solidFill>
          <a:ln xmlns:a="http://schemas.openxmlformats.org/drawingml/2006/main" w="12383">
            <a:solidFill>
              <a:srgbClr val="1555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2D4ED-996F-4B79-AF8C-7CA62E3A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D9F4A4-7040-42F2-82EF-29198B4D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373B9-816B-406D-BCAB-C681267A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РЕШЕНИЕ О ДЕКОМПОЗИЦИИ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3DE33-0486-498B-9087-CCBF1413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38200"/>
            <a:ext cx="8763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3F7FB"/>
                </a:solidFill>
              </a:defRPr>
            </a:pPr>
            <a:r>
              <a:rPr sz="3450" b="1">
                <a:solidFill>
                  <a:srgbClr val="F3F7FB"/>
                </a:solidFill>
              </a:rPr>
              <a:t>Когда нужны субагенты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E435EF-5A1F-4D32-A967-1CB2DDE4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240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5C2"/>
                </a:solidFill>
              </a:defRPr>
            </a:pPr>
            <a:r>
              <a:rPr sz="1575" b="0">
                <a:solidFill>
                  <a:srgbClr val="A6B5C2"/>
                </a:solidFill>
              </a:rPr>
              <a:t>Декомпозиция по специализации, а не по моде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14BCA0-B870-43F4-B05B-DAFD3F9F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33650"/>
            <a:ext cx="42291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AEDEC-F0AC-4E9A-AFA3-0E215A6E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241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F9172D-FA7A-40B6-8FD7-ECFCF9BC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2895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5E0FF"/>
                </a:solidFill>
              </a:defRPr>
            </a:pPr>
            <a:r>
              <a:rPr sz="1950" b="1">
                <a:solidFill>
                  <a:srgbClr val="35E0FF"/>
                </a:solidFill>
              </a:rPr>
              <a:t>Домены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5D0664-F55F-4FE8-ACBA-DD347540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623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1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Меняется язык предметной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области и критерий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качества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ADC81A-2463-4C7F-BDD8-7B689743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33650"/>
            <a:ext cx="42291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6948BB-620E-4F9C-82AE-3C897F8B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241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144635-F198-4C9F-81F8-03A20496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F3C"/>
                </a:solidFill>
              </a:defRPr>
            </a:pPr>
            <a:r>
              <a:rPr sz="1950" b="1">
                <a:solidFill>
                  <a:srgbClr val="FFBF3C"/>
                </a:solidFill>
              </a:rPr>
              <a:t>Инструменты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6E9306-6F9E-41A9-8D44-1CA409F1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Нужны отдельные права,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среды и протоколы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819BE2-C1E2-484B-A9C3-37A4FC99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24350"/>
            <a:ext cx="42291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FFD00D-C330-4B52-B7D3-68B57535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148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A3F52A-FA4E-43D8-AEA9-58AC69A2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1965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A46"/>
                </a:solidFill>
              </a:defRPr>
            </a:pPr>
            <a:r>
              <a:rPr sz="1950" b="1">
                <a:solidFill>
                  <a:srgbClr val="FF6A46"/>
                </a:solidFill>
              </a:rPr>
              <a:t>Контекст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0DDC5F-1A76-492E-8145-B150CDDD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530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1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Один агент уже не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удерживает сигнал без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шума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90A453-885C-45FB-951B-44AF1AF9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42291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0A7335-3F06-4494-B466-A976044F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148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EBB31A-1D6B-45BD-91B9-8FA9A12D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19650"/>
            <a:ext cx="377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F7FB"/>
                </a:solidFill>
              </a:defRPr>
            </a:pPr>
            <a:r>
              <a:rPr sz="1950" b="1">
                <a:solidFill>
                  <a:srgbClr val="F3F7FB"/>
                </a:solidFill>
              </a:rPr>
              <a:t>Параллельность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B7F833-0A40-4345-A5C8-9DC4DD1E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530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Есть независимые ветки с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разной скоростью</a:t>
            </a:r>
          </a:p>
        </p:txBody>
      </p:sp>
    </p:spTree>
    <p:extLst>
      <p:ext uri="{BB962C8B-B14F-4D97-AF65-F5344CB8AC3E}">
        <p14:creationId xmlns:p14="http://schemas.microsoft.com/office/powerpoint/2010/main" val="7682643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62B31-7C28-4ECA-BB35-95F60E11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76942-BBC3-4A03-B006-17F43993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B45F2-DFB1-427A-86F3-9101127B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BDDAE-AE53-4B34-948F-024440DB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243A9-505F-4402-A611-E3A925C4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536EB-B045-49E6-A4F4-B0AE5C49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2E753-8FA6-42FF-9FD1-88221BBB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FB758-2272-4028-96FC-363848A2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E32F6-6640-46E5-89A8-ED0A2DDF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A7087-1363-4E62-94A1-1F5A3C48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50384-9039-4903-95D2-92C5947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FA848-6D32-4F34-A63E-221463F5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1A0A7-907E-473C-8048-45DCAC2C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A9E86-0E54-44E7-88F7-3FB5C3EE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FE2E0-3571-4CE4-889B-BB8489F8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26ABD-A985-422D-8864-ED630E2D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60A3C-4FC6-4B05-B09F-ED2F09C2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E3026-A8C8-4B37-BB03-1C178F31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5EA43-D45C-438D-BCC7-ED3BB9A4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52244-4DF1-44CB-90AA-738D8431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256D2-2C7A-4675-8C0D-18D0F46C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FAN-OUT / FAN-IN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51E0EF-5A40-454F-9FD2-6AFAEC60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4514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22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3F7FB"/>
                </a:solidFill>
              </a:defRPr>
            </a:pPr>
            <a:r>
              <a:rPr sz="3900" b="1">
                <a:solidFill>
                  <a:srgbClr val="F3F7FB"/>
                </a:solidFill>
              </a:rPr>
              <a:t>Параллельная работа без хаоса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CC6D5-3CB8-4C65-9072-A964A12C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5C2"/>
                </a:solidFill>
              </a:defRPr>
            </a:pPr>
            <a:r>
              <a:rPr sz="1575" b="0">
                <a:solidFill>
                  <a:srgbClr val="A6B5C2"/>
                </a:solidFill>
              </a:rPr>
              <a:t>Fan-out полезен только при жестких контрактах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C255A8-97F9-400B-AE60-0FE9FDD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095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B1D832-87AB-4B86-89C6-302933DD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60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F5101A-760B-4CDA-9114-780AF74E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3429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19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Параллелить только независимые ветки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Общий контракт входов обязателен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Артефакты именуются детерминированно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Слияние через слой ревью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Конфликты решает оркестратор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6ed0bcb8f4af3"/>
          <a:stretch xmlns:a="http://schemas.openxmlformats.org/drawingml/2006/main"/>
        </p:blipFill>
        <p:spPr>
          <a:xfrm xmlns:a="http://schemas.openxmlformats.org/drawingml/2006/main">
            <a:off x="5791200" y="1371600"/>
            <a:ext cx="5905500" cy="398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464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6C342-D74D-4916-9659-9EFB41BC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300C7-00D0-4584-B7DF-BE8425EC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799C0-BFDF-4C35-9F84-208846C5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232B3-C4FA-4040-9B35-1B6BBE29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97F38-F35A-4EBF-9566-B99519FD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3E85D-572E-4761-860B-56895132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281F2-84DB-42E1-A1D7-69259314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C14E1-86B6-4476-A4CF-AD3013FD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B214F-910B-4980-BF85-2BE7E339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B3E4A-3068-4FE9-AC04-3BCA7181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FDDC4-2C92-41BC-9D01-96A6C540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CB061-4C33-46F4-B4F0-1037EDCD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15C18-8CC0-450E-8B5E-A01F2657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1E854-3786-4A10-A796-7709E9CB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566EF-B7BB-49F7-A4C2-B7D21CC2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1356B-45E8-45F6-9000-FA26673A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01C6B-CD03-4F03-A67C-FDF5F9ED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AB7F2-DD9D-46E4-B4BF-43C2EB5D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A1314-1717-4E70-A1DC-AC007287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80DD4-9876-438D-AF42-EAD7ABDD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D056D6-0CE8-4896-B28A-2E7A6587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НАБЛЮДАЕМОСТЬ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66F49-47D7-4552-A102-95A4744C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57250"/>
            <a:ext cx="4857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7FB"/>
                </a:solidFill>
              </a:defRPr>
            </a:pPr>
            <a:r>
              <a:rPr sz="2700" b="1">
                <a:solidFill>
                  <a:srgbClr val="F3F7FB"/>
                </a:solidFill>
              </a:rPr>
              <a:t>Логи, трассы, артефакты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FD929-EB5D-4181-99F9-3DBF1A00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478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6B5C2"/>
                </a:solidFill>
              </a:defRPr>
            </a:pPr>
            <a:r>
              <a:rPr sz="1425" b="0">
                <a:solidFill>
                  <a:srgbClr val="A6B5C2"/>
                </a:solidFill>
              </a:rPr>
              <a:t>Доверяем следам системы, не впечатлению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5A387E-B266-4A11-85B8-C96C3141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86050"/>
            <a:ext cx="2095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4AE612-8DA9-4A7E-86EC-FE4DC73E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76550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5225A0-1F80-4DFF-AED4-E9380B67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813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5E0FF"/>
                </a:solidFill>
              </a:defRPr>
            </a:pPr>
            <a:r>
              <a:rPr sz="1950" b="1">
                <a:solidFill>
                  <a:srgbClr val="35E0FF"/>
                </a:solidFill>
              </a:rPr>
              <a:t>P95 шага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3BC51F-27BC-4DF0-9BD9-ACD1CBFA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14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1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Показывает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задержку и хвост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выполнения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9DA5E5-75BE-47A4-810D-E5487E09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86050"/>
            <a:ext cx="2095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0FF2C2-31F7-41E8-8267-FCDE15C5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420B9C-7C82-4D3F-BD58-4A14BE01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813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8167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F3C"/>
                </a:solidFill>
              </a:defRPr>
            </a:pPr>
            <a:r>
              <a:rPr sz="1950" b="1">
                <a:solidFill>
                  <a:srgbClr val="FFBF3C"/>
                </a:solidFill>
              </a:rPr>
              <a:t>Успех tool calls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545BE7-EE07-46A3-8B9E-4A19737C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1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Сигнал о качестве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контрактов и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интеграций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BBC014-4190-4A4C-BA01-AC1FE801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86250"/>
            <a:ext cx="2095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75EEF4-59A3-4B3E-BCAD-2A13F0D6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0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4F2027-F353-434E-BFBD-94285EEA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815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6363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A46"/>
                </a:solidFill>
              </a:defRPr>
            </a:pPr>
            <a:r>
              <a:rPr sz="1950" b="1">
                <a:solidFill>
                  <a:srgbClr val="FF6A46"/>
                </a:solidFill>
              </a:rPr>
              <a:t>Доля ретраев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D55315-25FE-4C6C-B4A0-89BA0B83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1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Маркер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нестабильности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среды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D136BE-2375-4CF9-95C5-A9FC79B2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86250"/>
            <a:ext cx="2095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34E070-D85A-4BB8-A2B5-EB4B1AFC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76750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2EBB36-1E27-4ACD-ABE9-1C738874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815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756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F7FB"/>
                </a:solidFill>
              </a:defRPr>
            </a:pPr>
            <a:r>
              <a:rPr sz="1950" b="1">
                <a:solidFill>
                  <a:srgbClr val="F3F7FB"/>
                </a:solidFill>
              </a:rPr>
              <a:t>Стоимость задачи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82F005-D751-434D-888E-F473151F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71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Сводит токены,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инструменты и</a:t>
            </a:r>
          </a:p>
          <a:p xmlns:a="http://schemas.openxmlformats.org/drawingml/2006/main">
            <a:pPr algn="ctr">
              <a:defRPr sz="975" b="0">
                <a:solidFill>
                  <a:srgbClr val="A6B5C2"/>
                </a:solidFill>
              </a:defRPr>
            </a:pPr>
            <a:r>
              <a:rPr sz="975" b="0">
                <a:solidFill>
                  <a:srgbClr val="A6B5C2"/>
                </a:solidFill>
              </a:rPr>
              <a:t>время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57E321-6FCF-4A36-8CFD-0683FBD5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8102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092A0"/>
                </a:solidFill>
              </a:defRPr>
            </a:pPr>
            <a:r>
              <a:rPr sz="1200" b="0">
                <a:solidFill>
                  <a:srgbClr val="8092A0"/>
                </a:solidFill>
              </a:rPr>
              <a:t>Trace snippet: span(step='tool_call', trace_id, artifact_id).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6E79F9-ED7A-4125-89D6-A6736385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14450"/>
            <a:ext cx="4000500" cy="45910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2CABBA-288B-41A3-BF32-849C7A24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350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56F952-0BC5-44C6-81D4-D5CC1008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38300"/>
            <a:ext cx="350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F3C"/>
                </a:solidFill>
              </a:defRPr>
            </a:pPr>
            <a:r>
              <a:rPr sz="1200" b="1">
                <a:solidFill>
                  <a:srgbClr val="FFBF3C"/>
                </a:solidFill>
              </a:rPr>
              <a:t>ЦЕПОЧКА СЛЕДОВ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2B049C-C57E-4B64-B470-ADA69F57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47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48EDC7-E97F-4C12-99ED-5F3E5BBC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52650"/>
            <a:ext cx="3162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7FB"/>
                </a:solidFill>
              </a:defRPr>
            </a:pPr>
            <a:r>
              <a:rPr sz="1350" b="0">
                <a:solidFill>
                  <a:srgbClr val="F3F7FB"/>
                </a:solidFill>
              </a:rPr>
              <a:t>Событие — запрос и политики на входе.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D4B5C8-7ED9-443C-BF79-A205C199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A8340F-1017-4E06-A267-F9673CF8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3162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7FB"/>
                </a:solidFill>
              </a:defRPr>
            </a:pPr>
            <a:r>
              <a:rPr sz="1350" b="0">
                <a:solidFill>
                  <a:srgbClr val="F3F7FB"/>
                </a:solidFill>
              </a:rPr>
              <a:t>Span — каждый tool call и задержка.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AF13AD-E1E7-4069-8547-755D83C3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5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37BF1C-62C0-49B9-AA63-C600569D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62350"/>
            <a:ext cx="3162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7FB"/>
                </a:solidFill>
              </a:defRPr>
            </a:pPr>
            <a:r>
              <a:rPr sz="1350" b="0">
                <a:solidFill>
                  <a:srgbClr val="F3F7FB"/>
                </a:solidFill>
              </a:rPr>
              <a:t>Artifact — plan, trace, review, output.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A2EC14-2772-4D11-94E7-02E34368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FC95FD-B8B2-4B7F-964B-EBDD8653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3162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7FB"/>
                </a:solidFill>
              </a:defRPr>
            </a:pPr>
            <a:r>
              <a:rPr sz="1350" b="0">
                <a:solidFill>
                  <a:srgbClr val="F3F7FB"/>
                </a:solidFill>
              </a:rPr>
              <a:t>Metric — P95 шага, доля ретраев, стоимость.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156D98-D534-43C7-A70C-57104BE0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67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A3F585-A74C-419C-852C-DACB63EE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72050"/>
            <a:ext cx="3162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7FB"/>
                </a:solidFill>
              </a:defRPr>
            </a:pPr>
            <a:r>
              <a:rPr sz="1350" b="0">
                <a:solidFill>
                  <a:srgbClr val="F3F7FB"/>
                </a:solidFill>
              </a:rPr>
              <a:t>Replay — версии модели, промпта и среды.</a:t>
            </a:r>
          </a:p>
        </p:txBody>
      </p:sp>
    </p:spTree>
    <p:extLst>
      <p:ext uri="{BB962C8B-B14F-4D97-AF65-F5344CB8AC3E}">
        <p14:creationId xmlns:p14="http://schemas.microsoft.com/office/powerpoint/2010/main" val="12180987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E0436-D786-47D4-9065-46A1BCA6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AE02A-5B39-4E8E-82A1-F4F11805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82184-299B-4ED4-AAAF-78256A3B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5E39A-0243-47CF-ACF8-BBA7900B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65607-38FB-4948-A352-73EF5F13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4AFD6-BE68-4383-AC92-4C82DDF1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81F98-2A9E-448F-A210-9954ED42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4FB15-EB53-46FD-BC06-2647DE75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87C41-624B-432A-8094-F3D7E7F0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FE441-4FC6-4598-866E-91EBA0D9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39DA5-E63B-4091-A0E2-86B2BC49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7C03F-ECA5-493A-B9D8-4A1CD345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247CB-47D3-4164-B5A3-5D32B230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D135D-A9F3-4225-828A-CDE2FB8D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F7BA0-D6DB-43F5-990F-C4215C3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FD01A-DFF0-4AE7-AF07-F8730BA3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3461F-904E-42F8-9CE8-15E46590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8F40F-29DE-4AF6-889C-3217495C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DEA58-0A11-45A1-93F7-EEA94A84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"/>
            <a:ext cx="96393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23042"/>
          </a:solidFill>
          <a:ln xmlns:a="http://schemas.openxmlformats.org/drawingml/2006/main" w="12383">
            <a:solidFill>
              <a:srgbClr val="1555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0C010-5BC0-480E-9C4E-E817D7BE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85950"/>
            <a:ext cx="9601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12383">
            <a:solidFill>
              <a:srgbClr val="1452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5F13D-65A7-49C1-971B-A4AA72B8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2885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CD2C3-6A2C-4972-9F53-42526657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FF989-02E4-4D91-9A20-4EF9A518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7647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E0FF"/>
                </a:solidFill>
              </a:defRPr>
            </a:pPr>
            <a:r>
              <a:rPr sz="1050" b="1">
                <a:solidFill>
                  <a:srgbClr val="35E0FF"/>
                </a:solidFill>
              </a:rPr>
              <a:t>СЛОЙ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21DEC8-48C0-4D4A-B779-DFE63B8F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33700"/>
            <a:ext cx="1371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123247"/>
                </a:solidFill>
              </a:defRPr>
            </a:pPr>
            <a:r>
              <a:rPr sz="7200" b="1">
                <a:solidFill>
                  <a:srgbClr val="123247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0ECC8-4E3C-4C2F-8BEF-E9CD7181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9085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7FB"/>
                </a:solidFill>
              </a:defRPr>
            </a:pPr>
            <a:r>
              <a:rPr sz="2550" b="1">
                <a:solidFill>
                  <a:srgbClr val="F3F7FB"/>
                </a:solidFill>
              </a:rPr>
              <a:t>Надежность и безопасность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3CA445-AD4E-40BE-AC23-9258BB3D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B5C2"/>
                </a:solidFill>
              </a:defRPr>
            </a:pPr>
            <a:r>
              <a:rPr sz="1650" b="0">
                <a:solidFill>
                  <a:srgbClr val="A6B5C2"/>
                </a:solidFill>
              </a:rPr>
              <a:t>Управляемые ошибки лучше скрытых сюрпризов.</a:t>
            </a:r>
          </a:p>
        </p:txBody>
      </p:sp>
    </p:spTree>
    <p:extLst>
      <p:ext uri="{BB962C8B-B14F-4D97-AF65-F5344CB8AC3E}">
        <p14:creationId xmlns:p14="http://schemas.microsoft.com/office/powerpoint/2010/main" val="18012457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A30D8-EA52-4E7F-A023-AAD41EB3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8DE4B-BDFF-43D6-AE59-1577D46C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E15EB-EF10-407F-B66B-1F78FF07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7B464-7D25-4B55-A841-82A74795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81D37-BE7E-4D13-A4B6-8BBBA5E3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C88E1-9508-47D7-B1EA-262B2B28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B2CA5-7A4A-42E2-8CCF-F704EAE9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53524-7E51-472B-90AF-FCCF0BCC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ADCC7-AD73-4F6C-98A9-640414E4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40771-FE8A-46D3-8326-A7731851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ECB8E-5BB4-4B49-AE26-CD48F009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25BF2-CBF5-4AD7-B426-34F845AA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DFEB9-95E4-4F4A-B91B-6A50E54D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AD7D3-F16A-431F-9327-E106DD3A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12368-85DD-4739-830D-CDCD147F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EAD1C-6E2D-4948-A5E2-39A09F9D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7E644-9224-42F4-AFC4-05850817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6FA42-DCB8-44B0-B945-517625BD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5360C-20D3-4F95-B348-7BF19131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9E3CE-705C-47B0-B492-94757BF6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0AACE-E437-4433-A906-1967150D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RESILIENCE MECHANICS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39A22-AECF-4883-8830-D62F304B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4876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3F7FB"/>
                </a:solidFill>
              </a:defRPr>
            </a:pPr>
            <a:r>
              <a:rPr sz="3600" b="1">
                <a:solidFill>
                  <a:srgbClr val="F3F7FB"/>
                </a:solidFill>
              </a:rPr>
              <a:t>Ошибки, ретраи, таймауты, откат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48939-EFED-45A0-B041-C3CE090F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5C2"/>
                </a:solidFill>
              </a:defRPr>
            </a:pPr>
            <a:r>
              <a:rPr sz="1575" b="0">
                <a:solidFill>
                  <a:srgbClr val="A6B5C2"/>
                </a:solidFill>
              </a:rPr>
              <a:t>Устойчивость строится до инцидента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210AA-C21B-4C95-83EF-905DF6E1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5910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94F3EB-D1E6-4B18-8BC2-94E11139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B584CC-41DC-411F-93CE-13276748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3924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Классифицируйте сбой до ретрая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Идемпотентность перед повторами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Таймауты на каждом шаге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Circuit breaker для деградации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Откат по артефактам и версиям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C80F5C-6474-455A-8CB8-8307FFFD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4476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37BE59-123A-4B86-83BE-3A9982D7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398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3614B1-F6E2-4D54-8983-766A0D3B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24050"/>
            <a:ext cx="401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TRANSIENT ERROR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9A3E49-9E57-4C57-8666-9FC7FB5E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401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053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Шум сети, rate limit, временная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деградация.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37470A-82B0-405B-9BBC-E4C8316A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4476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F5974C-B628-4439-8C95-B84D31FC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398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CDE0D6-06EF-411A-B88A-6C14E4A0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01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A46"/>
                </a:solidFill>
              </a:defRPr>
            </a:pPr>
            <a:r>
              <a:rPr sz="1200" b="1">
                <a:solidFill>
                  <a:srgbClr val="FF6A46"/>
                </a:solidFill>
              </a:rPr>
              <a:t>DETERMINISTIC FAILURE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A9C1B8-9AC1-4840-B1C9-F1D9470A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01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053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Неверный контракт, невалидный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ввод, запрет политики.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A5B6A9-8718-47D0-BEC8-27D1BC3F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4476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93E3FE-5BA8-4C9F-B771-A7CC7641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398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AF2C71-093F-4A5F-9A67-E552DA4D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401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F3C"/>
                </a:solidFill>
              </a:defRPr>
            </a:pPr>
            <a:r>
              <a:rPr sz="1200" b="1">
                <a:solidFill>
                  <a:srgbClr val="FFBF3C"/>
                </a:solidFill>
              </a:rPr>
              <a:t>RETRY POLICY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755D33-2E9F-4124-B584-21D63509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401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053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max=2, backoff=exp,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timeout_ms=8000.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255AA5-A0CA-4255-A53E-F2910962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5910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AF4D73-AC38-4769-97F8-8DCA28DC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4CC8B2-DF12-46D1-A367-22FF4A1C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4114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Повторяем только обратимые операции. После лимита переводим шаг в review или human gate.</a:t>
            </a:r>
          </a:p>
        </p:txBody>
      </p:sp>
    </p:spTree>
    <p:extLst>
      <p:ext uri="{BB962C8B-B14F-4D97-AF65-F5344CB8AC3E}">
        <p14:creationId xmlns:p14="http://schemas.microsoft.com/office/powerpoint/2010/main" val="9068337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AF0E5-D382-4D2F-879E-CAB74C13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182C3-0D80-41B1-B78F-B1AC9F83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9D601-B7D7-464C-9DD2-9BCAA434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27FE5-10D1-4414-B781-904C151E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221AB-6B5D-4E3D-980D-A1C586F1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B2F02-A390-4DAF-B89C-20D59BA6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08677-2A88-407D-A030-E58D17D2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02858-AB09-4EB8-A0B7-E1366334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A81E9-2B8F-46FA-8B97-AB7B1187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24ABE-0414-47EE-ADFA-64FF9102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DC513-F7BB-42C2-ABE9-4234C3B4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31E15-7031-4D5F-AA0A-8580FFE7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FA85A-0A54-4790-8FA9-D298113C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D2CBF-DE7F-4F12-BD92-9DCF95FB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D4EF3-557A-40E0-A751-D99DC9DE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9FBF9-874C-4E5B-8A50-6D7C1732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26FB2-F593-4B8A-B27B-26A918C6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BF7F6-FB7E-45BF-934D-4989B0A1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79CAD-09F5-4CC4-A3E4-684E432C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AB97C5-B596-456E-8554-BB1F6A4F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BAC81-D499-48E5-8629-82FB53D0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39A581-80F4-4BB7-A358-DB90FDC4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533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3F7FB"/>
                </a:solidFill>
              </a:defRPr>
            </a:pPr>
            <a:r>
              <a:rPr sz="3300" b="1">
                <a:solidFill>
                  <a:srgbClr val="F3F7FB"/>
                </a:solidFill>
              </a:rPr>
              <a:t>Human-in-the-loop и точки эскалации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69A1A-D9B1-4B14-A479-8F8824B6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5C2"/>
                </a:solidFill>
              </a:defRPr>
            </a:pPr>
            <a:r>
              <a:rPr sz="1575" b="0">
                <a:solidFill>
                  <a:srgbClr val="A6B5C2"/>
                </a:solidFill>
              </a:rPr>
              <a:t>Человек нужен на границе риска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EBF4A9-349E-4D45-B346-FEEED742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4005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A42254-E59A-477E-B7D6-1DC1D870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193766-3925-468F-A070-A62905AC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3733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Человек утверждает рискованные действия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Человек решает неоднозначные конфликты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Эскалация по порогу уверенности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Эскалация по стоимости ошибки</a:t>
            </a:r>
          </a:p>
          <a:p xmlns:a="http://schemas.openxmlformats.org/drawingml/2006/main">
            <a:pPr algn="l">
              <a:defRPr sz="1500" b="0">
                <a:solidFill>
                  <a:srgbClr val="F3F7FB"/>
                </a:solidFill>
              </a:defRPr>
            </a:pPr>
            <a:r>
              <a:rPr sz="1500" b="0">
                <a:solidFill>
                  <a:srgbClr val="F3F7FB"/>
                </a:solidFill>
              </a:rPr>
              <a:t>• Журнал решения сохраняется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ad93d4d30448a"/>
          <a:stretch xmlns:a="http://schemas.openxmlformats.org/drawingml/2006/main"/>
        </p:blipFill>
        <p:spPr>
          <a:xfrm xmlns:a="http://schemas.openxmlformats.org/drawingml/2006/main">
            <a:off x="5924550" y="2895600"/>
            <a:ext cx="5581650" cy="1676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601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222CC-296E-4F45-A3EE-FE24CBB6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C62C5-06D8-4E56-BF16-A1E76B02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E7FB6-8F6B-4275-B232-59BFBBB0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45FC8-D7C6-476B-8FEF-DE23DB53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188C5-17E3-4A0E-9EEF-74E495CE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40569-7432-49D9-9DB1-7FD0851E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CD4AA-84ED-432A-AE5C-8A6E89CD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E8723-5A7E-4B8F-AF4C-F5E2EA83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D03F7-EA0E-4C48-820D-B53E60C3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FC704-4E24-4099-90C2-570AECE0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8C6E0-4833-43D6-9A15-FBFCE921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8EA14-6820-4248-B482-EFFE5A88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F27C4-63FD-4CB4-A852-7EB04B45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1CFAF-639C-4E86-834E-AEEBBF2F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13F78-E2A1-440C-95CC-214CB2AE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EAF0C-8CFB-459E-9DAE-656DBCC2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72F32-E6B3-45F9-8228-32007E87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40642-544B-45E7-8DCF-74C2B66E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FC0B0-E462-4B06-A34B-52BAFF21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C0322F-8373-407C-AFA3-053E6A1F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AC1A4-8F47-4B78-B074-062F7419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END-TO-END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D4700-1D1E-402D-AC6B-1184B5E5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9535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F7FB"/>
                </a:solidFill>
              </a:defRPr>
            </a:pPr>
            <a:r>
              <a:rPr sz="3150" b="1">
                <a:solidFill>
                  <a:srgbClr val="F3F7FB"/>
                </a:solidFill>
              </a:rPr>
              <a:t>Эталонный pipeline harness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21FDF-0183-46B4-973F-6061BFDF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764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5C2"/>
                </a:solidFill>
              </a:defRPr>
            </a:pPr>
            <a:r>
              <a:rPr sz="1575" b="0">
                <a:solidFill>
                  <a:srgbClr val="A6B5C2"/>
                </a:solidFill>
              </a:rPr>
              <a:t>От запроса до проверенного артефакта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C86C2-F1A7-4D3D-8E09-80DD9A75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0"/>
            <a:ext cx="415290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A9ECA2-8E00-4714-9BC4-7978090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365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D34FB6-C084-475B-A5AD-EBBB41FA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3238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</a:defRPr>
            </a:pPr>
            <a:r>
              <a:rPr sz="1650" b="0">
                <a:solidFill>
                  <a:srgbClr val="F3F7FB"/>
                </a:solidFill>
              </a:rPr>
              <a:t>• На входе собираем только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</a:defRPr>
            </a:pPr>
            <a:r>
              <a:rPr sz="1650" b="0">
                <a:solidFill>
                  <a:srgbClr val="F3F7FB"/>
                </a:solidFill>
              </a:rPr>
              <a:t>  релевантный контекст.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</a:defRPr>
            </a:pPr>
            <a:r>
              <a:rPr sz="1650" b="0">
                <a:solidFill>
                  <a:srgbClr val="F3F7FB"/>
                </a:solidFill>
              </a:rPr>
              <a:t>• Оркестратор разводит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</a:defRPr>
            </a:pPr>
            <a:r>
              <a:rPr sz="1650" b="0">
                <a:solidFill>
                  <a:srgbClr val="F3F7FB"/>
                </a:solidFill>
              </a:rPr>
              <a:t>  работу по инструментам и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</a:defRPr>
            </a:pPr>
            <a:r>
              <a:rPr sz="1650" b="0">
                <a:solidFill>
                  <a:srgbClr val="F3F7FB"/>
                </a:solidFill>
              </a:rPr>
              <a:t>  сабагентам.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</a:defRPr>
            </a:pPr>
            <a:r>
              <a:rPr sz="1650" b="0">
                <a:solidFill>
                  <a:srgbClr val="F3F7FB"/>
                </a:solidFill>
              </a:rPr>
              <a:t>• Ревью, guardrails и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</a:defRPr>
            </a:pPr>
            <a:r>
              <a:rPr sz="1650" b="0">
                <a:solidFill>
                  <a:srgbClr val="F3F7FB"/>
                </a:solidFill>
              </a:rPr>
              <a:t>  observability замыкают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</a:defRPr>
            </a:pPr>
            <a:r>
              <a:rPr sz="1650" b="0">
                <a:solidFill>
                  <a:srgbClr val="F3F7FB"/>
                </a:solidFill>
              </a:rPr>
              <a:t>  контур.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9918f8fa54739"/>
          <a:stretch xmlns:a="http://schemas.openxmlformats.org/drawingml/2006/main"/>
        </p:blipFill>
        <p:spPr>
          <a:xfrm xmlns:a="http://schemas.openxmlformats.org/drawingml/2006/main">
            <a:off x="6743700" y="285750"/>
            <a:ext cx="4762500" cy="5181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781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B4931-B9CC-4585-8B74-A565672C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10F25-BF6B-4E26-B04C-AA6543DE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AEC21-C7BC-44DA-8202-39700ACB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15A18-47D3-4F79-981C-FCD5EA63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630DC-2ACB-4085-BF0B-7A3C2F63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A27AE-2A7E-4FB5-8758-849B4A12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A42C0-5DEB-4E1B-BC2D-8686B19E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EB21D-432C-48F7-AE86-B89E93CD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D47F1-6E62-4191-8F80-A555974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8C140-9AB9-4DD4-B833-A77546B6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06ADB-8813-42C0-8C83-BBFAEFEA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7139B-DB25-4B41-87A5-6097E375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28C47-C3EF-49BE-BF77-EDF83647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089EA-0943-4E86-ACBC-01935A7C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C71A6-D83A-447A-807D-5C95DF34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409F1-71C0-4039-B655-A0BE21F5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69AE1-5FC0-4A77-BB6F-C531C05B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394A3-655D-42D0-814F-C5B4C961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B8E24-776B-4672-BEA7-EF3199D0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56869-E7D2-499B-93E4-44F0F31F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17290-C8D1-401E-9EAD-F6D4B4DD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ИТОГ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33CAD3-F482-4961-B9BC-9FC34D1A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87630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3F7FB"/>
                </a:solidFill>
              </a:defRPr>
            </a:pPr>
            <a:r>
              <a:rPr sz="3600" b="1">
                <a:solidFill>
                  <a:srgbClr val="F3F7FB"/>
                </a:solidFill>
              </a:rPr>
              <a:t>5 принципов хорошего harness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BCB3D3-1735-47B3-A388-CF372CD5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907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6B5C2"/>
                </a:solidFill>
              </a:defRPr>
            </a:pPr>
            <a:r>
              <a:rPr sz="1575" b="0">
                <a:solidFill>
                  <a:srgbClr val="A6B5C2"/>
                </a:solidFill>
              </a:rPr>
              <a:t>Инженерные правила вместо магического мышления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72051-A2BA-45C1-BFEC-5CA3C255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95600"/>
            <a:ext cx="2495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DD1692-E0CF-409C-8265-94C5D36A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6F1FD0-EB9A-4FB3-AC91-FE471A74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385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КОНТРАКТЫ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9A7E58-395D-447F-9114-1D6C6F4B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576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1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Интерфейсы и форматы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должны быть явными.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E29A0E-4DD7-4839-888B-2836CC19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495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9772E3-0421-4771-9A8B-E58965E1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E8EFF4-6823-4E40-9E74-B66C6447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385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F3C"/>
                </a:solidFill>
              </a:defRPr>
            </a:pPr>
            <a:r>
              <a:rPr sz="1200" b="1">
                <a:solidFill>
                  <a:srgbClr val="FFBF3C"/>
                </a:solidFill>
              </a:rPr>
              <a:t>КОНТЕКСТ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4AAC0C-31D6-469A-86AA-90BABCC9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576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Сигнал важнее объема.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3CF303-A2D9-4597-B0E6-90D7B4EF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2495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698661-E909-4207-B065-06FD2740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882CEF-5C94-4FE5-9354-ACA8E2C5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385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НАБЛЮДАЕМОСТЬ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763E57-CAA3-4AAF-BCE8-0A38D6F5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576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1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Следы и метрики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включены по умолчанию.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B53340-F7A3-488A-AC15-78B2DEA4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14850"/>
            <a:ext cx="2495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2ADDD2-3764-4BE8-B195-6945D63F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244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87EC20-CDF8-4565-89CF-D7841D2A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577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БЕЗОПАСНОСТЬ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DEAF36-8ACD-4F35-90B1-D718E158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7685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1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Рискованные действия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идут через guardrails.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DB4BE6-99B3-4663-8F6E-2C3A2989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14850"/>
            <a:ext cx="2495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1293A"/>
          </a:solidFill>
          <a:ln xmlns:a="http://schemas.openxmlformats.org/drawingml/2006/main" w="11430">
            <a:solidFill>
              <a:srgbClr val="14526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3374C0-4E69-4ABD-B05C-D02B827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244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81BD28-6D1A-4FC1-868C-3B8FEDE0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577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FF"/>
                </a:solidFill>
              </a:defRPr>
            </a:pPr>
            <a:r>
              <a:rPr sz="1200" b="1">
                <a:solidFill>
                  <a:srgbClr val="35E0FF"/>
                </a:solidFill>
              </a:rPr>
              <a:t>АРТЕФАКТЫ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54DC32-249A-497A-956A-D6A27785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7685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209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Созданное должно быть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проверяемым и</a:t>
            </a:r>
          </a:p>
          <a:p xmlns:a="http://schemas.openxmlformats.org/drawingml/2006/main">
            <a:pPr algn="l">
              <a:defRPr sz="1350" b="0">
                <a:solidFill>
                  <a:srgbClr val="A6B5C2"/>
                </a:solidFill>
              </a:defRPr>
            </a:pPr>
            <a:r>
              <a:rPr sz="1350" b="0">
                <a:solidFill>
                  <a:srgbClr val="A6B5C2"/>
                </a:solidFill>
              </a:rPr>
              <a:t>воспроизводимым.</a:t>
            </a:r>
          </a:p>
        </p:txBody>
      </p:sp>
    </p:spTree>
    <p:extLst>
      <p:ext uri="{BB962C8B-B14F-4D97-AF65-F5344CB8AC3E}">
        <p14:creationId xmlns:p14="http://schemas.microsoft.com/office/powerpoint/2010/main" val="20855654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5F980-B477-4A1B-9E34-35DE8FBF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CE342-A7B5-4C06-95F2-12FE6A3D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F43AE-4EB3-49F9-BEE0-40309ED6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F6D85-BE1F-4AB7-A19C-44E3C4D1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1698B-F88E-478E-BB15-722D056F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4491D-4286-49F0-B052-4DB0FBA6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974DC-688C-42EE-A266-EA44E174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F53A0-00C9-4E36-825C-176EFDC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5D7E8-7432-4940-97B2-83429448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31C9A-33CF-4148-BE6D-95D2EAFC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851A3-3B7E-4182-B8ED-51DB027A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C5347-8282-43B1-AE18-1A9604DC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2516E-840F-42EA-9221-856362FB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4EC6B-7CA2-45C0-A411-44FE75EA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54C45-55A0-493B-B14B-76FA59F7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6732C-9EE0-48AB-AA36-680332BB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159BB-9681-4302-80B6-AC978D45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11925300" cy="65532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09141E">
              <a:alpha val="6275"/>
            </a:srgbClr>
          </a:solidFill>
          <a:ln xmlns:a="http://schemas.openxmlformats.org/drawingml/2006/main" w="11430">
            <a:solidFill>
              <a:srgbClr val="1130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1DA4C-4BA6-4081-970B-0DCBDB9E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114300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346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5DFA1-428E-4EEF-BD9E-E8A49D85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"/>
            <a:ext cx="963930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23042"/>
          </a:solidFill>
          <a:ln xmlns:a="http://schemas.openxmlformats.org/drawingml/2006/main" w="12383">
            <a:solidFill>
              <a:srgbClr val="1555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2147D-1664-4172-A55C-D966089C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3524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5557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A6D2E-9C9C-4F44-B2F7-B84BBE44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28750"/>
            <a:ext cx="4572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1240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F38BF-2B89-4131-A92B-7281A32F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23812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2B6B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4395AA-CF7F-4489-AE90-294F0454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990600"/>
            <a:ext cx="2076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C87CD0-8F2F-4B96-AB94-4D8E29FB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143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F9D345-71BF-40AC-BB44-17DCD330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03822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E0FF"/>
                </a:solidFill>
              </a:defRPr>
            </a:pPr>
            <a:r>
              <a:rPr sz="1050" b="1">
                <a:solidFill>
                  <a:srgbClr val="35E0FF"/>
                </a:solidFill>
              </a:rPr>
              <a:t>CLOSING SIGNAL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B320F0-F748-40AD-BE3E-F61BC0A7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6743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158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3F7FB"/>
                </a:solidFill>
              </a:defRPr>
            </a:pPr>
            <a:r>
              <a:rPr sz="3300" b="1">
                <a:solidFill>
                  <a:srgbClr val="F3F7FB"/>
                </a:solidFill>
              </a:rPr>
              <a:t>Harness превращает LLM в систему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91B936-F3A1-4B8D-AB52-BF88A84F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552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6B5C2"/>
                </a:solidFill>
              </a:defRPr>
            </a:pPr>
            <a:r>
              <a:rPr sz="1650" b="0">
                <a:solidFill>
                  <a:srgbClr val="A6B5C2"/>
                </a:solidFill>
              </a:rPr>
              <a:t>Не просто ответ, а управляемое исполнение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E19819-F3E7-4D55-A926-90C85896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95700"/>
            <a:ext cx="1752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B2298B-8B33-48B2-A095-BD52453B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4332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LLM = РАССУЖДЕНИЕ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69FDAE-94F0-4D08-AFEC-4756002A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95700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FFBF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0A1F7B-07C5-49E9-A935-C590DFF1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43325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F3C"/>
                </a:solidFill>
              </a:defRPr>
            </a:pPr>
            <a:r>
              <a:rPr sz="900" b="1">
                <a:solidFill>
                  <a:srgbClr val="FFBF3C"/>
                </a:solidFill>
              </a:rPr>
              <a:t>HARNESS = ИСПОЛНЕНИЕ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CAC951-2124-48D8-B91F-822074BF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9570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1B27"/>
          </a:solidFill>
          <a:ln xmlns:a="http://schemas.openxmlformats.org/drawingml/2006/main" w="15240">
            <a:solidFill>
              <a:srgbClr val="35E0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F6B411-F71C-49A7-A2DE-E46EC27D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4332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FF"/>
                </a:solidFill>
              </a:defRPr>
            </a:pPr>
            <a:r>
              <a:rPr sz="900" b="1">
                <a:solidFill>
                  <a:srgbClr val="35E0FF"/>
                </a:solidFill>
              </a:rPr>
              <a:t>СИСТЕМА = СВЯЗКА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368AC2-E747-439C-B0B9-B0BF8ADA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57750"/>
            <a:ext cx="769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F7FB"/>
                </a:solidFill>
              </a:defRPr>
            </a:pPr>
            <a:r>
              <a:rPr sz="2100" b="1">
                <a:solidFill>
                  <a:srgbClr val="F3F7FB"/>
                </a:solidFill>
              </a:rPr>
              <a:t>Без harness агент впечатляет. С harness агент работает.</a:t>
            </a:r>
          </a:p>
        </p:txBody>
      </p:sp>
    </p:spTree>
    <p:extLst>
      <p:ext uri="{BB962C8B-B14F-4D97-AF65-F5344CB8AC3E}">
        <p14:creationId xmlns:p14="http://schemas.microsoft.com/office/powerpoint/2010/main" val="1199569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2026-04-19T10:42:24.5440000Z</dcterms:created>
  <dcterms:modified xsi:type="dcterms:W3CDTF">2026-04-19T10:42:24.5440000Z</dcterms:modified>
</coreProperties>
</file>